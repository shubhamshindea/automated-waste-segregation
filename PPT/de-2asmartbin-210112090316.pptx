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media/image1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0" r:id="rId4"/>
    <p:sldId id="258" r:id="rId5"/>
    <p:sldId id="260" r:id="rId6"/>
    <p:sldId id="261" r:id="rId7"/>
    <p:sldId id="262" r:id="rId8"/>
    <p:sldId id="263" r:id="rId9"/>
    <p:sldId id="266" r:id="rId10"/>
    <p:sldId id="267" r:id="rId11"/>
    <p:sldId id="271" r:id="rId12"/>
    <p:sldId id="272" r:id="rId13"/>
    <p:sldId id="269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4T18:56:46.908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4T18:56:48.601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1,'24'0,"90"-1,161 21,-143-2,97 16,-189-28,-25-4,0 0,0 1,0 1,-1 0,21 9,-20-7,-2-1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4T18:56:51.610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81,'512'23,"-151"11,-332-32,-13 0,-36-2,7 0,-29 1,0-2,0-3,0 0,-43-12,-108-28,72 22,16 4,22 7,58 9,20 1,8 0,526-18,-512 20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4T18:56:58.984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4T18:57:15.470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569 192,'-3'0,"-5"0,-4 0,-4 0,-3 0,-1 0,0 0,-1 0,0 0,3 3,12 5,18 4,19 4,16-1,13 0,7-2,-2 0,-4-2,-10-3,-16-3,-18-2,-16-2,-17-4,-24-6,-18 0,-17-3,-3 1,6-1,11 1,13 3,14-1,17 1,14 3,12 1,7 1,4-1,-4-1,-12 1,-17 1,-16 1,-14-3,-3 0,3 0,5 1,13 2,21 1,35 3,39 6,36 5,27 3,22 3,-9-3,-26-3,-33-1,-35-2,-32-3,-28-3,-19-2,-14-1,-12-1,-6 0,-1-1,4 1,4-1,8 1,18 0,23 0,23 0,19 0,9 0,3 0,-4 0,-16 0,-20 0,-27 0,-23 0,-19-4,-10 0,-4-1,7 2,11 1,12 0,15 1,21 1,20 0,19 0,20 0,13 0,4 1,-6-1,-11 0,-10 0,-20-4,-20-4,-18 0,-20-4,-14-5,-13-4,-6 2,5 0,10 1,8 3,10 0,12 0,13-1,12 2,5 0,-1 2,-6 4,-6 2,-6 3,-7-1,-4-1,-2 1,1-2,0-1,12 6,17 1,22 9,27 5,18 8,11 7,-3-2,-7-1,-13-6,-20-7,-20-4,-21-5,-13-2,-12-2,-11-1,-6 0,-6 0,-2 0,1 0,6 1,7 0,5 0,6 0,11 0,10 0,14 0,9 3,7 2,7 0,2-2,-2 0,-10-2,-16 0,-15 0,-16-5,-8-1,-2 0,2 2,4 0,9 1,19 1,26-3,30 0,23 0,15 0,12 2,-5 1,-12 0,-18 1,-24 0,-27 0,-24 0,-24 0,-21-3,-16-1,-7-4,-1 0,1-2,7 0,11 3,11 1,16 3,21 5,14 2,7 3,3 2,-4-2,-11-2,-19-1,-25-2,-22-1,-14-1,-3 0,8 0,13 0,23-1,36 1,45 3,50 9,49 8,39 5,25 4,3 5,-19 0,-30-3,-37-6,-38-4,-39-6,-29-6,-29-3,-29-4,-33-1,-33-2,-27 0,-19 0,-3 0,11-3,22-1,30 0,29-2,30 0,27 2,21 4,15 2,6 2,0 0,-2-1,-15 0,-20-1,-23 0,-22-1,-17-3,-8-2,2-3,8 0,12 1,18 2,27 2,35 1,37 1,27 1,21 4,11 0,-1 1,-13 2,-21 1,-24-2,-20-2,-21-1,-25-2,-28 0,-29-1,-22 0,-20 0,-6-1,4 1,12 0,14 0,23 0,30 0,39 3,37 5,25 4,18 4,-3-1,-10-3,-19 0,-26-2,-29-3,-41-3,-43-1,-43-2,-33-1,-12 0,7-1,23 1,31-1,34 1,40 0,37 0,37 3,45 5,34 4,22 4,7-1,-14 0,-24-2,-28-3,-27-4,-31-2,-25-3,-20 0,-18-2,-12 1,-5-1,-1 0,11 1,22 0,23 0,25 3,16 5,4 1,-4-2,-6-1,-15-2,-19-1,-24-2,-30-1,-32-3,-23-2,-19-3,-12-4,1 1,17 1,20 0,22 0,31 4,36 1,38 2,32 2,27 1,17 0,1 0,-6 1,-18-1,-21 0,-25-3,-19-5,-20-4,-14-4,-12-2,-2-2,0 3,5 0,2 4,5 0,4-1,4-1,6 1,8 1,4 1,5 4,2 3,-1-2,-2 1,-5 1,-10 2,-10-3,-8 1,-5 0,-4 2,-2 1,0 0,2 2,-2 0,-3 0,-6 0,-11 0,-7-3,-5-1,1-1,4-1,8-1,14 1,25 5,29 6,33 2,31 4,24 3,12 2,5 3,-8-3,-18 0,-22-3,-34-4,-36-3,-32-3,-26-5,-18-5,-8-3,2 2,10 1,13 3,18 1,19 1,24 2,26 0,22 0,23 1,11-1,4 0,-8 1,-15-1,-17 0,-14 0,-18 0,-17 0,-22 0,-34 0,-38 0,-33-4,-23 0,-4-4,12 0,26 1,46 8,46 5,47 8,36 8,26 4,16 5,-4 0,-17-6,-18-6,-26-7,-27-5,-22-4,-24-2,-18-2,-7 0,-1-1,5 1,9 0,17 1,24 0,22-1,25 1,18 4,9 0,-2 1,-6 2,-10 0,-18-1,-26-2,-25-1,-23-5,-17-2,-8 0,-2-3,8-1,16 2,26-2,28 1,26 1,16 2,9 1,-3 2,-8 0,-18 1,-25 0,-24-3,-24-4,-19-5,-18-4,-9-2,-5 1,-4 1,6 3,12 3,14 4,24 0,29 0,26 1,30 2,24 1,20 2,8-1,-6 1,-16 1,-18-1,-27 0,-31-3,-32-5,-23-1,-18 1,-6 2,3 2,3-2,10 0,26 2,32 0,34 2,31 1,23 1,10 3,7 2,-9-1,-16 0,-18-1,-22-2,-22 0,-13-4,-4-1,5-1,16 2,18 0,23 1,12 1,3 1,-7 0,-13 0,-18 0,-24 0,-23 0,-22 1,-21-1,-20 0,-15 0,-5 0,1-4,7 0,14-1,15 2,14 1,17 0,16 1,14 1,8 0,5 0,4 0,-7 0,-8 1,-17-5,-10-4,-5 0,-2 0,0-2,8 2,17 1,23 6,21 3,17 1,9 0,-1-1,-5 0,-10-1,-17 0,-18-1,-19 0,-20 0,-17-3,-11-5,-5-2,3 2,8 2,6 2,11-2,13 0,11 2,11 0,9 2,6 1,3 1,-1 0,-8 0,-14 0,-17 0,-18 0,-13 1,-10-1,-2 0,5 0,7 0,15 0,13 3,11 5,15 5,12-1,5 2,5 2,5-3,-5 1,-4-2,-3-4,-7 1,-2-1,0 1,3 0,6-3,5-1,1-2,-1-2,-6 3,-10 0,-11 0,-14-1,-14-1,-10 0,-2-2,1 1,0-2,13 1,18 0,19 3,15 5,8 1,3-1,-10-2,-20 1,-19 0,-21-2,-19-1,-9-2,3 0,3-2,14 3,25 5,30 8,34 11,28 8,15 5,1-1,-1 0,-14-4,-16-7,-23-9,-22-7,-25-6,-21-4,-16-2,-11-2,-1-3,7-1,11-3,15-3,15-4,9-1,7-3,2 0,-4-4,-14-1,-15-4,-12 1,-6-3,-7 1,-2 2,3 2,4 3,8 1,13 4,14 3,12 3,11 3,7 5,3-2,0 0,-4-1,-2 0,-9 0,-15 3,-22 1,-20-1,-25-2,-19-1,-18-1,-10 1,0 3,14 1,17 1,21 1,24 1,30 0,31 1,29 2,24 2,20 3,11 0,9 3,-1 2,-12 2,-17-1,-18-3,-27-3,-30-3,-30-3,-29-1,-15-1,-10 3,1 1,7 0,8-1,11-1,14 3,20 3,27 8,24 5,25 1,11 1,4 0,-7-4,-11-5,-16-1,-15-1,-22-1,-22-3,-15-3,-8-2,-1-1,3-2,15 0,15-1,13 1,12-1,8 4,1 2,2-1,-1-1,-9 0,-13-2,-12 0,-7-1,-1-3,5-2,12-2,12-5,7 0,5 3,0 2,-4-1,-8-2,-14 0,-16-5,-20-3,-20-2,-12 2,1 4,4 5,9 4,11 2,16 3,24 0,15 1,13 0,10-1,5 4,-1 1,-2 0,-16-1,-13-2,-15 0,-10-2,-5 1,-3-1,1-1,4 5,9 0,3 0,0-1,-6 3,-6 0,-4 3,-5-1,0 0,2-3,8 1,15 4,19-1,13-1,7-2,-1 1,-1 0,-10-2,-12-2,-12-1,3 0,10-5,17-5,22-8,11-5,7-2,-5 3,-7 4,-13 3,-16-1,-17 2,-14 3,-5 0,-6 2,1-3,9 2,16 1,23 3,19 1,11 1,6-1,-4-2,-8 1,-11 1,-11 1,-7 1,-12 0,-16-3,-19-3,-19-2,-18 1,-13-1,-1 1,3 1,10-1,18 1,19 1,23 2,20 5,21 3,13 3,3 4,-2 1,-7 1,-10-1,-8-4,-9 2,-14-2,-11-2,-13-2,-7-2,-1 3,11 3,13 1,13-1,11-3,8 2,1 0,-2-2,-3-1,-8 2,-10 0,-14-2,-22 0,-19-2,-21-1,-19 0,-10-1,0 0,9-1,16 1,11 0,24 0,19 3,19 2,12 2,14 1,7-1,5 2,-2-1,-5 1,-5 0,-12-1,-15-4,-17-1,-12-1,-9-1,-9-2,-1 1,3 0,5-1,9 4,16 5,15 1,18-1,16-3,7-1,0-1,-5-2,-13-1,-21 0,-22 0,-23 0,-17-1,-15-2,-4-6,2 0,11 2,23-3,27 2,27 1,20-1,15 0,5 2,-3 2,-8 2,-14 1,-23-3,-23-4,-30-4,-28-4,-18-1,-7 1,-5 0,8 2,18 5,25 3,31 2,30 3,27-3,18 0,6-3,-3 0,-9 1,-15 1,-20-1,-20-1,-11-1,-7 0,-5 1,-2-1,2 0,6-1,3 0,12 6,15 2,17 3,14 3,11 5,5 1,-4-2,-6-3,-14-1,-23 1,-22-1,-22 0,-15 2,-9-1,-4 3,6-1,9-1,11 2,11 2,18 3,18 2,14 6,14 2,8 4,3 1,-2-5,-9-3,-14-5,-17-5,-13-4,-8-4,-5-3,-2 0,6-1,14 3,17 2,17 0,11-1,4-1,2-1,-14 0,-20-1,-22-3,-19-5,-16-4,-8-1,3 3,9-1,18 1,20-4,17-3,13 1,5 3,-3 1,-11-1,-11 1,-14 3,-9 0,-6 1,-3-1,10 0,11-1,9 1,7 2,4 2,-3-2,-12-2,-16 0,-15-6,-15-3,-1 1,2 4,15 4,27 3,31 3,27 2,17 1,7 1,-4 0,-8-1,-12 1,-19-1,-24-3,-23-5,-22-4,-14-1,-11 3,-6 2,4 0,8 1,17 1,20 3,20 0,18 2,13 1,6 0,-2 1,-3-1,-5 0,-6 1,-10-1,-15-4,-19 0,-20-4,-14 0,-6 1,3 2,15 2,20 1,34 1,41 5,46 7,33 6,20 0,11 1,-2 0,-8 1,-25 0,-31-2,-29-5,-31-4,-28-4,-24-2,-20-1,-12-2,-5 0,2 0,2 1,5-1,5 1,6 0,4 0,6 3,2 1,1 1,0-2,-2 3,-1 0,-7-1,-4-1,-3-1,-3 2,-3 0,2-1,4-1,3 0,8 2,9 0,15 3,13 0,11 2,5 0,3-3,-5 2,-3-2,-3-1,-6 2,-9-1,-13-2,-13-1,-10-2,-7-4,-2-2,2 0,4-3,3-1,6-1,10 0,11-5,12-4,3-2,4-1,1-1,1 1,-3 0,-1 3,-8 5,-4 9,-7 4,-7 6,-1 5,1 8,1 4,3 1,6 1,5-1,6-2,7 0,4-4,2-2,3-4,0-3,3-4,-1-3,-2-1,-3-1,-8-1,-14 1,-15-5,-15-3,-21-5,-19-3,-8 2,-9-2,4 3,11 4,14 3,20-1,23 1,20-6,19-4,12-2,10-2,3-1,-4-1,-7 4,-10 2,-13 3,-18 7,-15 5,-12 6,-8 6,-1 4,-6-1,2 2,4 0,4-1,9-1,17 4,21 3,17-2,18-1,14 0,5-4,3-3,-5-1,-10-2,-12-2,-20-2,-17-2,-21-1,-22-1,-18-1,-15 1,-12 3,-6 5,0 0,9 0,14-2,14-2,19-1,18-2,18-1,14-3,8-6,6-4,3-3,0-2,-3 1,-5 1,-10 3,-8 0,-10 2,-15 3,-15 0,-17 0,-18 3,-8 1,-2 2,5 1,10 1,12 0,22 1,17-1,17 0,15 0,9 4,3 1,-2 3,-2 0,-8-1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99934" y="498998"/>
            <a:ext cx="3545204" cy="74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2039" y="221754"/>
            <a:ext cx="219710" cy="144145"/>
          </a:xfrm>
          <a:custGeom>
            <a:avLst/>
            <a:gdLst/>
            <a:ahLst/>
            <a:cxnLst/>
            <a:rect l="l" t="t" r="r" b="b"/>
            <a:pathLst>
              <a:path w="219709" h="144145">
                <a:moveTo>
                  <a:pt x="219608" y="124955"/>
                </a:moveTo>
                <a:lnTo>
                  <a:pt x="0" y="124955"/>
                </a:lnTo>
                <a:lnTo>
                  <a:pt x="0" y="143852"/>
                </a:lnTo>
                <a:lnTo>
                  <a:pt x="219608" y="143852"/>
                </a:lnTo>
                <a:lnTo>
                  <a:pt x="219608" y="124955"/>
                </a:lnTo>
                <a:close/>
              </a:path>
              <a:path w="219709" h="144145">
                <a:moveTo>
                  <a:pt x="219608" y="62471"/>
                </a:moveTo>
                <a:lnTo>
                  <a:pt x="0" y="62471"/>
                </a:lnTo>
                <a:lnTo>
                  <a:pt x="0" y="81381"/>
                </a:lnTo>
                <a:lnTo>
                  <a:pt x="219608" y="81381"/>
                </a:lnTo>
                <a:lnTo>
                  <a:pt x="219608" y="62471"/>
                </a:lnTo>
                <a:close/>
              </a:path>
              <a:path w="219709" h="144145">
                <a:moveTo>
                  <a:pt x="219608" y="0"/>
                </a:moveTo>
                <a:lnTo>
                  <a:pt x="0" y="0"/>
                </a:lnTo>
                <a:lnTo>
                  <a:pt x="0" y="18897"/>
                </a:lnTo>
                <a:lnTo>
                  <a:pt x="219608" y="18897"/>
                </a:lnTo>
                <a:lnTo>
                  <a:pt x="219608" y="0"/>
                </a:lnTo>
                <a:close/>
              </a:path>
            </a:pathLst>
          </a:custGeom>
          <a:solidFill>
            <a:srgbClr val="55688B">
              <a:alpha val="35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145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82C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0000" y="454583"/>
            <a:ext cx="5129574" cy="469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2500" y="1611603"/>
            <a:ext cx="5354320" cy="2560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025" y="4916029"/>
            <a:ext cx="379730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557" y="-6195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-70061" y="141702"/>
            <a:ext cx="8179220" cy="3239280"/>
            <a:chOff x="1496" y="-485"/>
            <a:chExt cx="7248636" cy="2868967"/>
          </a:xfrm>
        </p:grpSpPr>
        <p:sp>
          <p:nvSpPr>
            <p:cNvPr id="6" name="object 6"/>
            <p:cNvSpPr/>
            <p:nvPr/>
          </p:nvSpPr>
          <p:spPr>
            <a:xfrm>
              <a:off x="1496" y="-485"/>
              <a:ext cx="2300605" cy="2291715"/>
            </a:xfrm>
            <a:custGeom>
              <a:avLst/>
              <a:gdLst/>
              <a:ahLst/>
              <a:cxnLst/>
              <a:rect l="l" t="t" r="r" b="b"/>
              <a:pathLst>
                <a:path w="2300605" h="2291715">
                  <a:moveTo>
                    <a:pt x="2300099" y="2291399"/>
                  </a:moveTo>
                  <a:lnTo>
                    <a:pt x="1150049" y="2291399"/>
                  </a:lnTo>
                  <a:lnTo>
                    <a:pt x="0" y="1145700"/>
                  </a:lnTo>
                  <a:lnTo>
                    <a:pt x="0" y="0"/>
                  </a:lnTo>
                  <a:lnTo>
                    <a:pt x="2300099" y="2291399"/>
                  </a:lnTo>
                  <a:close/>
                </a:path>
              </a:pathLst>
            </a:custGeom>
            <a:solidFill>
              <a:srgbClr val="014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821" y="576767"/>
              <a:ext cx="2300605" cy="2291715"/>
            </a:xfrm>
            <a:custGeom>
              <a:avLst/>
              <a:gdLst/>
              <a:ahLst/>
              <a:cxnLst/>
              <a:rect l="l" t="t" r="r" b="b"/>
              <a:pathLst>
                <a:path w="2300605" h="2291715">
                  <a:moveTo>
                    <a:pt x="2300099" y="2291399"/>
                  </a:moveTo>
                  <a:lnTo>
                    <a:pt x="0" y="0"/>
                  </a:lnTo>
                  <a:lnTo>
                    <a:pt x="1150049" y="0"/>
                  </a:lnTo>
                  <a:lnTo>
                    <a:pt x="2300099" y="1145699"/>
                  </a:lnTo>
                  <a:lnTo>
                    <a:pt x="2300099" y="2291399"/>
                  </a:lnTo>
                  <a:close/>
                </a:path>
              </a:pathLst>
            </a:custGeom>
            <a:solidFill>
              <a:srgbClr val="82C7A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975187" y="103212"/>
              <a:ext cx="5274945" cy="695325"/>
            </a:xfrm>
            <a:custGeom>
              <a:avLst/>
              <a:gdLst/>
              <a:ahLst/>
              <a:cxnLst/>
              <a:rect l="l" t="t" r="r" b="b"/>
              <a:pathLst>
                <a:path w="5274945" h="695325">
                  <a:moveTo>
                    <a:pt x="0" y="0"/>
                  </a:moveTo>
                  <a:lnTo>
                    <a:pt x="5274477" y="0"/>
                  </a:lnTo>
                  <a:lnTo>
                    <a:pt x="5274477" y="695049"/>
                  </a:lnTo>
                  <a:lnTo>
                    <a:pt x="0" y="695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82C7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43427" y="1679300"/>
            <a:ext cx="386027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b="1" spc="-95" dirty="0"/>
              <a:t>AUTOMATED</a:t>
            </a:r>
            <a:endParaRPr lang="en-IN" sz="4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4700" y="2307677"/>
            <a:ext cx="3839845" cy="1458091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00" b="1" spc="-140" dirty="0">
                <a:solidFill>
                  <a:srgbClr val="FFFFFF"/>
                </a:solidFill>
                <a:latin typeface="Verdana"/>
                <a:cs typeface="Verdana"/>
              </a:rPr>
              <a:t>Waste </a:t>
            </a:r>
            <a:r>
              <a:rPr sz="3000" b="1" spc="-100" dirty="0">
                <a:solidFill>
                  <a:srgbClr val="FFFFFF"/>
                </a:solidFill>
                <a:latin typeface="Verdana"/>
                <a:cs typeface="Verdana"/>
              </a:rPr>
              <a:t>Segregation</a:t>
            </a:r>
            <a:endParaRPr sz="3000" dirty="0">
              <a:latin typeface="Verdana"/>
              <a:cs typeface="Verdana"/>
            </a:endParaRPr>
          </a:p>
          <a:p>
            <a:pPr marL="72390">
              <a:lnSpc>
                <a:spcPct val="100000"/>
              </a:lnSpc>
              <a:spcBef>
                <a:spcPts val="35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Guided</a:t>
            </a:r>
            <a:r>
              <a:rPr sz="1200" b="1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2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3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2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Prof.  Savitri K </a:t>
            </a:r>
            <a:r>
              <a:rPr sz="1200" spc="-9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lang="en-IN" sz="1200" spc="-9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72390">
              <a:lnSpc>
                <a:spcPct val="100000"/>
              </a:lnSpc>
              <a:spcBef>
                <a:spcPts val="355"/>
              </a:spcBef>
            </a:pPr>
            <a:r>
              <a:rPr lang="en-IN" sz="1200" spc="-90" dirty="0">
                <a:solidFill>
                  <a:srgbClr val="FFFFFF"/>
                </a:solidFill>
                <a:latin typeface="Verdana"/>
                <a:cs typeface="Verdana"/>
              </a:rPr>
              <a:t>                     : 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Sanjeev Gogga </a:t>
            </a:r>
          </a:p>
          <a:p>
            <a:pPr marL="72390">
              <a:lnSpc>
                <a:spcPct val="100000"/>
              </a:lnSpc>
              <a:spcBef>
                <a:spcPts val="355"/>
              </a:spcBef>
            </a:pPr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latin typeface="Verdana"/>
                <a:cs typeface="Verdana"/>
              </a:rPr>
              <a:t>                  :B Mamma</a:t>
            </a:r>
            <a:endParaRPr sz="1200" b="1" dirty="0">
              <a:solidFill>
                <a:schemeClr val="bg1">
                  <a:lumMod val="95000"/>
                </a:schemeClr>
              </a:solidFill>
              <a:latin typeface="Verdana"/>
              <a:cs typeface="Verdan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18B9B0-CE6B-5961-B084-B04CD39D1C9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607" y="248717"/>
            <a:ext cx="912655" cy="7850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D50A9C4-25C2-1634-0EF6-420A5094CFA5}"/>
              </a:ext>
            </a:extLst>
          </p:cNvPr>
          <p:cNvSpPr txBox="1"/>
          <p:nvPr/>
        </p:nvSpPr>
        <p:spPr>
          <a:xfrm>
            <a:off x="1828801" y="219249"/>
            <a:ext cx="8707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               VISVESVARAYA TECHNOLOGICAL UNIVERSITY</a:t>
            </a:r>
          </a:p>
          <a:p>
            <a:r>
              <a:rPr lang="en-US" sz="1400" dirty="0">
                <a:solidFill>
                  <a:srgbClr val="FFC000"/>
                </a:solidFill>
              </a:rPr>
              <a:t>           BHEEMANNA KHANDRE INSTITUTE OF TECHNOLOGY 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DEPARTMENT OF ELECTONICS&amp;COMMUNICATION ENGINEERING 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                                </a:t>
            </a:r>
            <a:r>
              <a:rPr lang="en-US" sz="1400" dirty="0">
                <a:solidFill>
                  <a:srgbClr val="FFC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BHALKI-585 328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0FE11-AA57-276D-9795-600FDAB11DC6}"/>
              </a:ext>
            </a:extLst>
          </p:cNvPr>
          <p:cNvSpPr txBox="1"/>
          <p:nvPr/>
        </p:nvSpPr>
        <p:spPr>
          <a:xfrm>
            <a:off x="6781800" y="3895066"/>
            <a:ext cx="266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Presented by :Batch 7</a:t>
            </a:r>
          </a:p>
          <a:p>
            <a:r>
              <a:rPr lang="en-IN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Shubham(</a:t>
            </a:r>
            <a:r>
              <a:rPr lang="en-IN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3RB22EC070)</a:t>
            </a:r>
            <a:endParaRPr lang="en-IN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Varun(3RB22EC088)</a:t>
            </a:r>
          </a:p>
          <a:p>
            <a:r>
              <a:rPr lang="en-IN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Vijay (3RB22EC091)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12C"/>
          </a:solidFill>
        </p:spPr>
        <p:txBody>
          <a:bodyPr wrap="square" lIns="0" tIns="0" rIns="0" bIns="0" rtlCol="0"/>
          <a:lstStyle/>
          <a:p>
            <a:endParaRPr lang="en-IN"/>
          </a:p>
        </p:txBody>
      </p:sp>
      <p:grpSp>
        <p:nvGrpSpPr>
          <p:cNvPr id="3" name="object 3"/>
          <p:cNvGrpSpPr/>
          <p:nvPr/>
        </p:nvGrpSpPr>
        <p:grpSpPr>
          <a:xfrm>
            <a:off x="3748709" y="-180011"/>
            <a:ext cx="5252233" cy="5361085"/>
            <a:chOff x="4406400" y="0"/>
            <a:chExt cx="4737735" cy="5143500"/>
          </a:xfrm>
        </p:grpSpPr>
        <p:sp>
          <p:nvSpPr>
            <p:cNvPr id="4" name="object 4"/>
            <p:cNvSpPr/>
            <p:nvPr/>
          </p:nvSpPr>
          <p:spPr>
            <a:xfrm>
              <a:off x="4406392" y="0"/>
              <a:ext cx="4737735" cy="4734560"/>
            </a:xfrm>
            <a:custGeom>
              <a:avLst/>
              <a:gdLst/>
              <a:ahLst/>
              <a:cxnLst/>
              <a:rect l="l" t="t" r="r" b="b"/>
              <a:pathLst>
                <a:path w="4737734" h="4734560">
                  <a:moveTo>
                    <a:pt x="4737608" y="2341867"/>
                  </a:moveTo>
                  <a:lnTo>
                    <a:pt x="4727130" y="2331402"/>
                  </a:lnTo>
                  <a:lnTo>
                    <a:pt x="4727130" y="0"/>
                  </a:lnTo>
                  <a:lnTo>
                    <a:pt x="2393962" y="0"/>
                  </a:lnTo>
                  <a:lnTo>
                    <a:pt x="440423" y="0"/>
                  </a:lnTo>
                  <a:lnTo>
                    <a:pt x="0" y="0"/>
                  </a:lnTo>
                  <a:lnTo>
                    <a:pt x="4737608" y="4734001"/>
                  </a:lnTo>
                  <a:lnTo>
                    <a:pt x="4737608" y="2341867"/>
                  </a:lnTo>
                  <a:close/>
                </a:path>
              </a:pathLst>
            </a:custGeom>
            <a:solidFill>
              <a:srgbClr val="FFFFFF">
                <a:alpha val="34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18391" y="1236471"/>
              <a:ext cx="1866264" cy="2249805"/>
            </a:xfrm>
            <a:custGeom>
              <a:avLst/>
              <a:gdLst/>
              <a:ahLst/>
              <a:cxnLst/>
              <a:rect l="l" t="t" r="r" b="b"/>
              <a:pathLst>
                <a:path w="1866265" h="2249804">
                  <a:moveTo>
                    <a:pt x="808799" y="808799"/>
                  </a:moveTo>
                  <a:lnTo>
                    <a:pt x="0" y="0"/>
                  </a:lnTo>
                  <a:lnTo>
                    <a:pt x="0" y="404406"/>
                  </a:lnTo>
                  <a:lnTo>
                    <a:pt x="404406" y="808799"/>
                  </a:lnTo>
                  <a:lnTo>
                    <a:pt x="808799" y="808799"/>
                  </a:lnTo>
                  <a:close/>
                </a:path>
                <a:path w="1866265" h="2249804">
                  <a:moveTo>
                    <a:pt x="1040257" y="611886"/>
                  </a:moveTo>
                  <a:lnTo>
                    <a:pt x="635863" y="207492"/>
                  </a:lnTo>
                  <a:lnTo>
                    <a:pt x="231457" y="207492"/>
                  </a:lnTo>
                  <a:lnTo>
                    <a:pt x="1040257" y="1016292"/>
                  </a:lnTo>
                  <a:lnTo>
                    <a:pt x="1040257" y="611886"/>
                  </a:lnTo>
                  <a:close/>
                </a:path>
                <a:path w="1866265" h="2249804">
                  <a:moveTo>
                    <a:pt x="1177480" y="2041804"/>
                  </a:moveTo>
                  <a:lnTo>
                    <a:pt x="368681" y="1233004"/>
                  </a:lnTo>
                  <a:lnTo>
                    <a:pt x="368681" y="1637398"/>
                  </a:lnTo>
                  <a:lnTo>
                    <a:pt x="773087" y="2041804"/>
                  </a:lnTo>
                  <a:lnTo>
                    <a:pt x="1177480" y="2041804"/>
                  </a:lnTo>
                  <a:close/>
                </a:path>
                <a:path w="1866265" h="2249804">
                  <a:moveTo>
                    <a:pt x="1412519" y="1844890"/>
                  </a:moveTo>
                  <a:lnTo>
                    <a:pt x="1008113" y="1440484"/>
                  </a:lnTo>
                  <a:lnTo>
                    <a:pt x="603719" y="1440484"/>
                  </a:lnTo>
                  <a:lnTo>
                    <a:pt x="1412519" y="2249284"/>
                  </a:lnTo>
                  <a:lnTo>
                    <a:pt x="1412519" y="1844890"/>
                  </a:lnTo>
                  <a:close/>
                </a:path>
                <a:path w="1866265" h="2249804">
                  <a:moveTo>
                    <a:pt x="1865744" y="1434350"/>
                  </a:moveTo>
                  <a:lnTo>
                    <a:pt x="1056944" y="625551"/>
                  </a:lnTo>
                  <a:lnTo>
                    <a:pt x="1056944" y="1029957"/>
                  </a:lnTo>
                  <a:lnTo>
                    <a:pt x="1461338" y="1434350"/>
                  </a:lnTo>
                  <a:lnTo>
                    <a:pt x="1865744" y="1434350"/>
                  </a:lnTo>
                  <a:close/>
                </a:path>
              </a:pathLst>
            </a:custGeom>
            <a:solidFill>
              <a:srgbClr val="FFFFFF">
                <a:alpha val="73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08099" y="2069505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808799" y="808799"/>
                  </a:moveTo>
                  <a:lnTo>
                    <a:pt x="0" y="0"/>
                  </a:lnTo>
                  <a:lnTo>
                    <a:pt x="404399" y="0"/>
                  </a:lnTo>
                  <a:lnTo>
                    <a:pt x="808799" y="404399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82C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61137" y="2477820"/>
              <a:ext cx="2092960" cy="1640205"/>
            </a:xfrm>
            <a:custGeom>
              <a:avLst/>
              <a:gdLst/>
              <a:ahLst/>
              <a:cxnLst/>
              <a:rect l="l" t="t" r="r" b="b"/>
              <a:pathLst>
                <a:path w="2092959" h="1640204">
                  <a:moveTo>
                    <a:pt x="808799" y="808799"/>
                  </a:moveTo>
                  <a:lnTo>
                    <a:pt x="0" y="0"/>
                  </a:lnTo>
                  <a:lnTo>
                    <a:pt x="0" y="404393"/>
                  </a:lnTo>
                  <a:lnTo>
                    <a:pt x="404393" y="808799"/>
                  </a:lnTo>
                  <a:lnTo>
                    <a:pt x="808799" y="808799"/>
                  </a:lnTo>
                  <a:close/>
                </a:path>
                <a:path w="2092959" h="1640204">
                  <a:moveTo>
                    <a:pt x="995260" y="1426006"/>
                  </a:moveTo>
                  <a:lnTo>
                    <a:pt x="186461" y="617194"/>
                  </a:lnTo>
                  <a:lnTo>
                    <a:pt x="186461" y="1021600"/>
                  </a:lnTo>
                  <a:lnTo>
                    <a:pt x="590854" y="1426006"/>
                  </a:lnTo>
                  <a:lnTo>
                    <a:pt x="995260" y="1426006"/>
                  </a:lnTo>
                  <a:close/>
                </a:path>
                <a:path w="2092959" h="1640204">
                  <a:moveTo>
                    <a:pt x="1224305" y="1229093"/>
                  </a:moveTo>
                  <a:lnTo>
                    <a:pt x="819912" y="824687"/>
                  </a:lnTo>
                  <a:lnTo>
                    <a:pt x="415505" y="824687"/>
                  </a:lnTo>
                  <a:lnTo>
                    <a:pt x="1224305" y="1633486"/>
                  </a:lnTo>
                  <a:lnTo>
                    <a:pt x="1224305" y="1229093"/>
                  </a:lnTo>
                  <a:close/>
                </a:path>
                <a:path w="2092959" h="1640204">
                  <a:moveTo>
                    <a:pt x="1912924" y="619544"/>
                  </a:moveTo>
                  <a:lnTo>
                    <a:pt x="1508518" y="215150"/>
                  </a:lnTo>
                  <a:lnTo>
                    <a:pt x="1104125" y="215150"/>
                  </a:lnTo>
                  <a:lnTo>
                    <a:pt x="1912924" y="1023950"/>
                  </a:lnTo>
                  <a:lnTo>
                    <a:pt x="1912924" y="619544"/>
                  </a:lnTo>
                  <a:close/>
                </a:path>
                <a:path w="2092959" h="1640204">
                  <a:moveTo>
                    <a:pt x="2092744" y="1235341"/>
                  </a:moveTo>
                  <a:lnTo>
                    <a:pt x="1688338" y="830935"/>
                  </a:lnTo>
                  <a:lnTo>
                    <a:pt x="1283944" y="830935"/>
                  </a:lnTo>
                  <a:lnTo>
                    <a:pt x="2092744" y="1639735"/>
                  </a:lnTo>
                  <a:lnTo>
                    <a:pt x="2092744" y="1235341"/>
                  </a:lnTo>
                  <a:close/>
                </a:path>
              </a:pathLst>
            </a:custGeom>
            <a:solidFill>
              <a:srgbClr val="FFFFFF">
                <a:alpha val="73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27414" y="3710806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808799" y="808799"/>
                  </a:moveTo>
                  <a:lnTo>
                    <a:pt x="404399" y="808799"/>
                  </a:lnTo>
                  <a:lnTo>
                    <a:pt x="0" y="404399"/>
                  </a:lnTo>
                  <a:lnTo>
                    <a:pt x="0" y="0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014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62444" y="3718483"/>
              <a:ext cx="1681480" cy="1424940"/>
            </a:xfrm>
            <a:custGeom>
              <a:avLst/>
              <a:gdLst/>
              <a:ahLst/>
              <a:cxnLst/>
              <a:rect l="l" t="t" r="r" b="b"/>
              <a:pathLst>
                <a:path w="1681479" h="1424939">
                  <a:moveTo>
                    <a:pt x="808799" y="604215"/>
                  </a:moveTo>
                  <a:lnTo>
                    <a:pt x="404393" y="199821"/>
                  </a:lnTo>
                  <a:lnTo>
                    <a:pt x="0" y="199821"/>
                  </a:lnTo>
                  <a:lnTo>
                    <a:pt x="808799" y="1008621"/>
                  </a:lnTo>
                  <a:lnTo>
                    <a:pt x="808799" y="604215"/>
                  </a:lnTo>
                  <a:close/>
                </a:path>
                <a:path w="1681479" h="1424939">
                  <a:moveTo>
                    <a:pt x="1448841" y="808799"/>
                  </a:moveTo>
                  <a:lnTo>
                    <a:pt x="640041" y="0"/>
                  </a:lnTo>
                  <a:lnTo>
                    <a:pt x="640041" y="404393"/>
                  </a:lnTo>
                  <a:lnTo>
                    <a:pt x="1044435" y="808799"/>
                  </a:lnTo>
                  <a:lnTo>
                    <a:pt x="1448841" y="808799"/>
                  </a:lnTo>
                  <a:close/>
                </a:path>
                <a:path w="1681479" h="1424939">
                  <a:moveTo>
                    <a:pt x="1634642" y="1424584"/>
                  </a:moveTo>
                  <a:lnTo>
                    <a:pt x="825842" y="615784"/>
                  </a:lnTo>
                  <a:lnTo>
                    <a:pt x="825842" y="1020191"/>
                  </a:lnTo>
                  <a:lnTo>
                    <a:pt x="1230236" y="1424584"/>
                  </a:lnTo>
                  <a:lnTo>
                    <a:pt x="1634642" y="1424584"/>
                  </a:lnTo>
                  <a:close/>
                </a:path>
                <a:path w="1681479" h="1424939">
                  <a:moveTo>
                    <a:pt x="1680883" y="611886"/>
                  </a:moveTo>
                  <a:lnTo>
                    <a:pt x="1276477" y="207479"/>
                  </a:lnTo>
                  <a:lnTo>
                    <a:pt x="872083" y="207479"/>
                  </a:lnTo>
                  <a:lnTo>
                    <a:pt x="1680883" y="1016279"/>
                  </a:lnTo>
                  <a:lnTo>
                    <a:pt x="1680883" y="611886"/>
                  </a:lnTo>
                  <a:close/>
                </a:path>
              </a:pathLst>
            </a:custGeom>
            <a:solidFill>
              <a:srgbClr val="FFFFFF">
                <a:alpha val="73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7550" y="1660128"/>
              <a:ext cx="3959725" cy="226449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76715" y="370000"/>
            <a:ext cx="2754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Table</a:t>
            </a:r>
            <a:r>
              <a:rPr spc="-165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168002" y="935580"/>
            <a:ext cx="5445754" cy="457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Introduction</a:t>
            </a:r>
          </a:p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lang="en-IN" sz="1600" spc="-10" dirty="0">
                <a:solidFill>
                  <a:schemeClr val="bg1">
                    <a:lumMod val="95000"/>
                  </a:schemeClr>
                </a:solidFill>
              </a:rPr>
              <a:t>Overview</a:t>
            </a:r>
            <a:endParaRPr lang="en-IN" sz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US" sz="1400" spc="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16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240155">
              <a:lnSpc>
                <a:spcPct val="1526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US" sz="14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marL="12700" marR="1240155">
              <a:lnSpc>
                <a:spcPct val="152600"/>
              </a:lnSpc>
            </a:pP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The</a:t>
            </a:r>
            <a:r>
              <a:rPr lang="en-IN" sz="1400" spc="-15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Basic</a:t>
            </a:r>
            <a:r>
              <a:rPr lang="en-IN" sz="1400" spc="-145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1400" spc="-10" dirty="0">
                <a:solidFill>
                  <a:schemeClr val="bg1">
                    <a:lumMod val="95000"/>
                  </a:schemeClr>
                </a:solidFill>
              </a:rPr>
              <a:t>Design</a:t>
            </a:r>
          </a:p>
          <a:p>
            <a:pPr marL="12700" marR="1240155">
              <a:lnSpc>
                <a:spcPct val="152600"/>
              </a:lnSpc>
            </a:pPr>
            <a:r>
              <a:rPr lang="en-US" sz="1400" spc="-10" dirty="0">
                <a:solidFill>
                  <a:schemeClr val="bg1">
                    <a:lumMod val="95000"/>
                  </a:schemeClr>
                </a:solidFill>
              </a:rPr>
              <a:t>Working Cycle of Segregation System</a:t>
            </a:r>
            <a:endParaRPr lang="en-IN" sz="1400" spc="-10" dirty="0">
              <a:solidFill>
                <a:schemeClr val="bg1">
                  <a:lumMod val="95000"/>
                </a:schemeClr>
              </a:solidFill>
            </a:endParaRPr>
          </a:p>
          <a:p>
            <a:pPr marL="12700" marR="1240155">
              <a:lnSpc>
                <a:spcPct val="152600"/>
              </a:lnSpc>
            </a:pP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Challenges and Limitations</a:t>
            </a:r>
          </a:p>
          <a:p>
            <a:pPr marL="12700" marR="1240155">
              <a:lnSpc>
                <a:spcPct val="152600"/>
              </a:lnSpc>
            </a:pP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Advantages</a:t>
            </a:r>
          </a:p>
          <a:p>
            <a:pPr marL="12700" marR="1240155">
              <a:lnSpc>
                <a:spcPct val="152600"/>
              </a:lnSpc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Challenges and Limitations</a:t>
            </a:r>
          </a:p>
          <a:p>
            <a:pPr marL="12700" marR="1240155">
              <a:lnSpc>
                <a:spcPct val="152600"/>
              </a:lnSpc>
            </a:pP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Conclusion and Future Scope</a:t>
            </a:r>
          </a:p>
          <a:p>
            <a:pPr marL="12700" marR="1240155">
              <a:lnSpc>
                <a:spcPct val="152600"/>
              </a:lnSpc>
            </a:pPr>
            <a:endParaRPr lang="en-US" sz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240155">
              <a:lnSpc>
                <a:spcPct val="152600"/>
              </a:lnSpc>
            </a:pPr>
            <a:r>
              <a:rPr lang="en-US" sz="14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73CB-81AB-B5A9-1009-F34E8FFE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000" y="454583"/>
            <a:ext cx="5129574" cy="369332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EEE3-2124-E2C7-031B-FD10A8FE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5720" y="983217"/>
            <a:ext cx="5777080" cy="313932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600" dirty="0"/>
              <a:t>• Waste management is a significant environmental challenge.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• Improper segregation leads to reduced recycling and environmental harm.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• Automatic Waste Segregation aims to simplify and improve waste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28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01934" y="1217891"/>
            <a:ext cx="5585460" cy="274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89865" algn="just">
              <a:lnSpc>
                <a:spcPct val="149000"/>
              </a:lnSpc>
              <a:spcBef>
                <a:spcPts val="100"/>
              </a:spcBef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1  Definition: Waste Sorting separates waste into different categories</a:t>
            </a:r>
          </a:p>
          <a:p>
            <a:pPr marL="12065" marR="189865" algn="just">
              <a:lnSpc>
                <a:spcPct val="149000"/>
              </a:lnSpc>
              <a:spcBef>
                <a:spcPts val="100"/>
              </a:spcBef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2 .Swachh Bharat Mission (2014):</a:t>
            </a:r>
          </a:p>
          <a:p>
            <a:pPr marL="340360" marR="189865" indent="-328295" algn="just">
              <a:lnSpc>
                <a:spcPct val="149000"/>
              </a:lnSpc>
              <a:spcBef>
                <a:spcPts val="100"/>
              </a:spcBef>
              <a:buFont typeface="Microsoft Sans Serif"/>
              <a:buChar char="●"/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Promoted separation of Dry and Wet waste.</a:t>
            </a:r>
          </a:p>
          <a:p>
            <a:pPr marL="12065" marR="189865" algn="just">
              <a:lnSpc>
                <a:spcPct val="149000"/>
              </a:lnSpc>
              <a:spcBef>
                <a:spcPts val="100"/>
              </a:spcBef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3 Implementation:</a:t>
            </a:r>
          </a:p>
          <a:p>
            <a:pPr marL="340360" marR="189865" indent="-328295" algn="just">
              <a:lnSpc>
                <a:spcPct val="149000"/>
              </a:lnSpc>
              <a:spcBef>
                <a:spcPts val="100"/>
              </a:spcBef>
              <a:buFont typeface="Microsoft Sans Serif"/>
              <a:buChar char="●"/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Compact bins: Blue for Dry waste, Green for Wet waste and yellow for metal.</a:t>
            </a:r>
          </a:p>
          <a:p>
            <a:pPr marL="12065" marR="189865" algn="just">
              <a:lnSpc>
                <a:spcPct val="149000"/>
              </a:lnSpc>
              <a:spcBef>
                <a:spcPts val="100"/>
              </a:spcBef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4  Impact:</a:t>
            </a:r>
          </a:p>
          <a:p>
            <a:pPr marL="340360" marR="189865" indent="-328295" algn="just">
              <a:lnSpc>
                <a:spcPct val="149000"/>
              </a:lnSpc>
              <a:spcBef>
                <a:spcPts val="100"/>
              </a:spcBef>
              <a:buFont typeface="Microsoft Sans Serif"/>
              <a:buChar char="●"/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 Encouraged responsible disposal in public spaces.</a:t>
            </a:r>
          </a:p>
          <a:p>
            <a:pPr marL="340360" marR="189865" indent="-328295" algn="just">
              <a:lnSpc>
                <a:spcPct val="149000"/>
              </a:lnSpc>
              <a:spcBef>
                <a:spcPts val="100"/>
              </a:spcBef>
              <a:buFont typeface="Microsoft Sans Serif"/>
              <a:buChar char="●"/>
              <a:tabLst>
                <a:tab pos="340360" algn="l"/>
                <a:tab pos="342900" algn="l"/>
              </a:tabLst>
            </a:pPr>
            <a:r>
              <a:rPr lang="en-IN" sz="1300" dirty="0">
                <a:solidFill>
                  <a:schemeClr val="bg1">
                    <a:lumMod val="95000"/>
                  </a:schemeClr>
                </a:solidFill>
                <a:latin typeface="Tahoma"/>
                <a:cs typeface="Tahoma"/>
              </a:rPr>
              <a:t>Simplified segregation for the government</a:t>
            </a:r>
            <a:r>
              <a:rPr lang="en-IN" sz="1300" dirty="0">
                <a:latin typeface="Tahoma"/>
                <a:cs typeface="Tahoma"/>
              </a:rPr>
              <a:t>.</a:t>
            </a:r>
            <a:endParaRPr sz="1300" dirty="0">
              <a:latin typeface="Tahoma"/>
              <a:cs typeface="Tahoma"/>
            </a:endParaRPr>
          </a:p>
        </p:txBody>
      </p:sp>
      <p:pic>
        <p:nvPicPr>
          <p:cNvPr id="1026" name="Picture 2" descr="BC Bottle Depot | Vancouver Bottle Depot | Surrey | Langley | Maple ridge">
            <a:extLst>
              <a:ext uri="{FF2B5EF4-FFF2-40B4-BE49-F238E27FC236}">
                <a16:creationId xmlns:a16="http://schemas.microsoft.com/office/drawing/2014/main" id="{43F47B6E-7E64-EE9E-3204-87B130EEE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1428750"/>
            <a:ext cx="3092308" cy="201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C305DE-0820-189D-CC54-1AB4AF6D9D72}"/>
                  </a:ext>
                </a:extLst>
              </p14:cNvPr>
              <p14:cNvContentPartPr/>
              <p14:nvPr/>
            </p14:nvContentPartPr>
            <p14:xfrm>
              <a:off x="478977" y="322216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C305DE-0820-189D-CC54-1AB4AF6D9D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977" y="311416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4518D6-3CFA-3B4A-97B9-D5AA0EFD4BB2}"/>
                  </a:ext>
                </a:extLst>
              </p14:cNvPr>
              <p14:cNvContentPartPr/>
              <p14:nvPr/>
            </p14:nvContentPartPr>
            <p14:xfrm>
              <a:off x="355497" y="2917246"/>
              <a:ext cx="342360" cy="42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4518D6-3CFA-3B4A-97B9-D5AA0EFD4B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497" y="2809246"/>
                <a:ext cx="4500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7E2A69-813F-2B74-59FC-FDA7A581AC70}"/>
                  </a:ext>
                </a:extLst>
              </p14:cNvPr>
              <p14:cNvContentPartPr/>
              <p14:nvPr/>
            </p14:nvContentPartPr>
            <p14:xfrm>
              <a:off x="377097" y="2910046"/>
              <a:ext cx="3308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7E2A69-813F-2B74-59FC-FDA7A581AC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3097" y="2802046"/>
                <a:ext cx="4384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222C22-D642-E8B5-5163-DFB328C9EA56}"/>
                  </a:ext>
                </a:extLst>
              </p14:cNvPr>
              <p14:cNvContentPartPr/>
              <p14:nvPr/>
            </p14:nvContentPartPr>
            <p14:xfrm>
              <a:off x="471777" y="3127846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222C22-D642-E8B5-5163-DFB328C9EA5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2777" y="3073846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E895CE2-D747-F638-60C9-6639B825C47A}"/>
                  </a:ext>
                </a:extLst>
              </p14:cNvPr>
              <p14:cNvContentPartPr/>
              <p14:nvPr/>
            </p14:nvContentPartPr>
            <p14:xfrm>
              <a:off x="194217" y="2797726"/>
              <a:ext cx="662760" cy="253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E895CE2-D747-F638-60C9-6639B825C4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5217" y="2744086"/>
                <a:ext cx="680400" cy="3607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D03F1D6-CCC3-803A-DEDF-6F116CD53230}"/>
              </a:ext>
            </a:extLst>
          </p:cNvPr>
          <p:cNvSpPr txBox="1"/>
          <p:nvPr/>
        </p:nvSpPr>
        <p:spPr>
          <a:xfrm>
            <a:off x="194217" y="2728669"/>
            <a:ext cx="586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wet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Understanding</a:t>
            </a:r>
            <a:r>
              <a:rPr spc="-130" dirty="0"/>
              <a:t> </a:t>
            </a:r>
            <a:r>
              <a:rPr dirty="0"/>
              <a:t>the</a:t>
            </a:r>
            <a:r>
              <a:rPr spc="-13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8675" y="1601850"/>
            <a:ext cx="3853815" cy="2783840"/>
            <a:chOff x="268675" y="1601850"/>
            <a:chExt cx="3853815" cy="2783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750" y="1601850"/>
              <a:ext cx="3853424" cy="25243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8675" y="4126199"/>
              <a:ext cx="3853815" cy="259079"/>
            </a:xfrm>
            <a:custGeom>
              <a:avLst/>
              <a:gdLst/>
              <a:ahLst/>
              <a:cxnLst/>
              <a:rect l="l" t="t" r="r" b="b"/>
              <a:pathLst>
                <a:path w="3853815" h="259079">
                  <a:moveTo>
                    <a:pt x="3853499" y="258899"/>
                  </a:moveTo>
                  <a:lnTo>
                    <a:pt x="0" y="258899"/>
                  </a:lnTo>
                  <a:lnTo>
                    <a:pt x="0" y="0"/>
                  </a:lnTo>
                  <a:lnTo>
                    <a:pt x="3853499" y="0"/>
                  </a:lnTo>
                  <a:lnTo>
                    <a:pt x="3853499" y="25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203" y="4235035"/>
              <a:ext cx="2468827" cy="1090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07849" y="1508344"/>
            <a:ext cx="4408170" cy="268287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384"/>
              </a:spcBef>
              <a:buFont typeface="MS PGothic"/>
              <a:buChar char="➢"/>
              <a:tabLst>
                <a:tab pos="456565" algn="l"/>
              </a:tabLst>
            </a:pP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Lack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awareness</a:t>
            </a:r>
            <a:endParaRPr sz="1700">
              <a:latin typeface="Tahoma"/>
              <a:cs typeface="Tahoma"/>
            </a:endParaRPr>
          </a:p>
          <a:p>
            <a:pPr marL="456565" marR="224154" indent="-444500">
              <a:lnSpc>
                <a:spcPct val="113999"/>
              </a:lnSpc>
              <a:buFont typeface="MS PGothic"/>
              <a:buChar char="➢"/>
              <a:tabLst>
                <a:tab pos="456565" algn="l"/>
              </a:tabLst>
            </a:pP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Lack</a:t>
            </a:r>
            <a:r>
              <a:rPr sz="17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Waste</a:t>
            </a:r>
            <a:r>
              <a:rPr sz="17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7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Knowledge </a:t>
            </a:r>
            <a:r>
              <a:rPr sz="1700" spc="-40" dirty="0">
                <a:solidFill>
                  <a:srgbClr val="FFFFFF"/>
                </a:solidFill>
                <a:latin typeface="Tahoma"/>
                <a:cs typeface="Tahoma"/>
              </a:rPr>
              <a:t>among</a:t>
            </a:r>
            <a:r>
              <a:rPr sz="17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sz="17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workers</a:t>
            </a:r>
            <a:endParaRPr sz="1700">
              <a:latin typeface="Tahoma"/>
              <a:cs typeface="Tahoma"/>
            </a:endParaRPr>
          </a:p>
          <a:p>
            <a:pPr marL="456565" marR="384810" indent="-444500">
              <a:lnSpc>
                <a:spcPct val="113999"/>
              </a:lnSpc>
              <a:buFont typeface="MS PGothic"/>
              <a:buChar char="➢"/>
              <a:tabLst>
                <a:tab pos="456565" algn="l"/>
              </a:tabLst>
            </a:pPr>
            <a:r>
              <a:rPr sz="1700" spc="8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7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Garbage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7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Dustbins</a:t>
            </a:r>
            <a:endParaRPr sz="1700">
              <a:latin typeface="Tahoma"/>
              <a:cs typeface="Tahoma"/>
            </a:endParaRPr>
          </a:p>
          <a:p>
            <a:pPr marL="456565" marR="865505" indent="-444500">
              <a:lnSpc>
                <a:spcPct val="113999"/>
              </a:lnSpc>
              <a:buFont typeface="MS PGothic"/>
              <a:buChar char="➢"/>
              <a:tabLst>
                <a:tab pos="456565" algn="l"/>
              </a:tabLst>
            </a:pP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Negligible</a:t>
            </a:r>
            <a:r>
              <a:rPr sz="17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Tahoma"/>
                <a:cs typeface="Tahoma"/>
              </a:rPr>
              <a:t>usage</a:t>
            </a:r>
            <a:r>
              <a:rPr sz="17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technological advancements</a:t>
            </a:r>
            <a:endParaRPr sz="1700">
              <a:latin typeface="Tahoma"/>
              <a:cs typeface="Tahoma"/>
            </a:endParaRPr>
          </a:p>
          <a:p>
            <a:pPr marL="456565" marR="5080" indent="-444500">
              <a:lnSpc>
                <a:spcPct val="113999"/>
              </a:lnSpc>
              <a:buFont typeface="MS PGothic"/>
              <a:buChar char="➢"/>
              <a:tabLst>
                <a:tab pos="456565" algn="l"/>
              </a:tabLst>
            </a:pPr>
            <a:r>
              <a:rPr sz="1700" spc="-35" dirty="0">
                <a:solidFill>
                  <a:srgbClr val="FFFFFF"/>
                </a:solidFill>
                <a:latin typeface="Tahoma"/>
                <a:cs typeface="Tahoma"/>
              </a:rPr>
              <a:t>Sad</a:t>
            </a:r>
            <a:r>
              <a:rPr sz="17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truth</a:t>
            </a:r>
            <a:r>
              <a:rPr sz="17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8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7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Laziness</a:t>
            </a:r>
            <a:r>
              <a:rPr sz="17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acknowledgment</a:t>
            </a:r>
            <a:r>
              <a:rPr sz="17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Dry</a:t>
            </a:r>
            <a:r>
              <a:rPr sz="17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7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FFFFFF"/>
                </a:solidFill>
                <a:latin typeface="Tahoma"/>
                <a:cs typeface="Tahoma"/>
              </a:rPr>
              <a:t>Wet</a:t>
            </a:r>
            <a:r>
              <a:rPr sz="17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waste</a:t>
            </a:r>
            <a:r>
              <a:rPr sz="17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7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13735"/>
            <a:ext cx="5363210" cy="5143500"/>
            <a:chOff x="0" y="0"/>
            <a:chExt cx="536321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9" y="5300"/>
              <a:ext cx="5360023" cy="5138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33095" cy="588645"/>
            </a:xfrm>
            <a:custGeom>
              <a:avLst/>
              <a:gdLst/>
              <a:ahLst/>
              <a:cxnLst/>
              <a:rect l="l" t="t" r="r" b="b"/>
              <a:pathLst>
                <a:path w="633095" h="588645">
                  <a:moveTo>
                    <a:pt x="632699" y="588599"/>
                  </a:moveTo>
                  <a:lnTo>
                    <a:pt x="0" y="588599"/>
                  </a:lnTo>
                  <a:lnTo>
                    <a:pt x="0" y="0"/>
                  </a:lnTo>
                  <a:lnTo>
                    <a:pt x="632699" y="0"/>
                  </a:lnTo>
                  <a:lnTo>
                    <a:pt x="632699" y="588599"/>
                  </a:lnTo>
                  <a:close/>
                </a:path>
              </a:pathLst>
            </a:custGeom>
            <a:solidFill>
              <a:srgbClr val="1B21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039" y="221754"/>
              <a:ext cx="219710" cy="144145"/>
            </a:xfrm>
            <a:custGeom>
              <a:avLst/>
              <a:gdLst/>
              <a:ahLst/>
              <a:cxnLst/>
              <a:rect l="l" t="t" r="r" b="b"/>
              <a:pathLst>
                <a:path w="219709" h="144145">
                  <a:moveTo>
                    <a:pt x="219608" y="124955"/>
                  </a:moveTo>
                  <a:lnTo>
                    <a:pt x="0" y="124955"/>
                  </a:lnTo>
                  <a:lnTo>
                    <a:pt x="0" y="143852"/>
                  </a:lnTo>
                  <a:lnTo>
                    <a:pt x="219608" y="143852"/>
                  </a:lnTo>
                  <a:lnTo>
                    <a:pt x="219608" y="124955"/>
                  </a:lnTo>
                  <a:close/>
                </a:path>
                <a:path w="219709" h="144145">
                  <a:moveTo>
                    <a:pt x="219608" y="62471"/>
                  </a:moveTo>
                  <a:lnTo>
                    <a:pt x="0" y="62471"/>
                  </a:lnTo>
                  <a:lnTo>
                    <a:pt x="0" y="81381"/>
                  </a:lnTo>
                  <a:lnTo>
                    <a:pt x="219608" y="81381"/>
                  </a:lnTo>
                  <a:lnTo>
                    <a:pt x="219608" y="62471"/>
                  </a:lnTo>
                  <a:close/>
                </a:path>
                <a:path w="219709" h="144145">
                  <a:moveTo>
                    <a:pt x="219608" y="0"/>
                  </a:moveTo>
                  <a:lnTo>
                    <a:pt x="0" y="0"/>
                  </a:lnTo>
                  <a:lnTo>
                    <a:pt x="0" y="18897"/>
                  </a:lnTo>
                  <a:lnTo>
                    <a:pt x="219608" y="18897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55688B">
                <a:alpha val="35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81001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808799" y="808799"/>
                  </a:moveTo>
                  <a:lnTo>
                    <a:pt x="404399" y="808799"/>
                  </a:lnTo>
                  <a:lnTo>
                    <a:pt x="0" y="404399"/>
                  </a:lnTo>
                  <a:lnTo>
                    <a:pt x="0" y="0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014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9049" y="588488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808799" y="808799"/>
                  </a:moveTo>
                  <a:lnTo>
                    <a:pt x="0" y="0"/>
                  </a:lnTo>
                  <a:lnTo>
                    <a:pt x="404399" y="0"/>
                  </a:lnTo>
                  <a:lnTo>
                    <a:pt x="808799" y="404399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82C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90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4191000" y="1323090"/>
            <a:ext cx="4565664" cy="2832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To</a:t>
            </a:r>
            <a:r>
              <a:rPr sz="2000" b="1" spc="-13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45" dirty="0">
                <a:solidFill>
                  <a:srgbClr val="D9D9D9"/>
                </a:solidFill>
                <a:latin typeface="Verdana"/>
                <a:cs typeface="Verdana"/>
              </a:rPr>
              <a:t>create</a:t>
            </a:r>
            <a:r>
              <a:rPr sz="2000" b="1" spc="-10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such</a:t>
            </a:r>
            <a:r>
              <a:rPr sz="2000" b="1" spc="-95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a</a:t>
            </a:r>
            <a:r>
              <a:rPr sz="2000" b="1" spc="-10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D9D9D9"/>
                </a:solidFill>
                <a:latin typeface="Verdana"/>
                <a:cs typeface="Verdana"/>
              </a:rPr>
              <a:t>SMART</a:t>
            </a:r>
            <a:r>
              <a:rPr sz="2000" b="1" spc="-10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105" dirty="0">
                <a:solidFill>
                  <a:srgbClr val="D9D9D9"/>
                </a:solidFill>
                <a:latin typeface="Verdana"/>
                <a:cs typeface="Verdana"/>
              </a:rPr>
              <a:t>BIN</a:t>
            </a:r>
            <a:r>
              <a:rPr sz="2000" b="1" spc="-65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that</a:t>
            </a:r>
            <a:r>
              <a:rPr sz="2000" b="1" spc="-10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D9D9D9"/>
                </a:solidFill>
                <a:latin typeface="Verdana"/>
                <a:cs typeface="Verdana"/>
              </a:rPr>
              <a:t>can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automatically</a:t>
            </a:r>
            <a:r>
              <a:rPr sz="2000" b="1" spc="335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segregate</a:t>
            </a:r>
            <a:r>
              <a:rPr sz="2000" b="1" spc="34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lang="en-IN" sz="2000" b="1" spc="340" dirty="0">
                <a:solidFill>
                  <a:srgbClr val="D9D9D9"/>
                </a:solidFill>
                <a:latin typeface="Verdana"/>
                <a:cs typeface="Verdana"/>
              </a:rPr>
              <a:t>metallic,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Dry</a:t>
            </a:r>
            <a:r>
              <a:rPr sz="2000" b="1" spc="34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280" dirty="0">
                <a:solidFill>
                  <a:srgbClr val="D9D9D9"/>
                </a:solidFill>
                <a:latin typeface="Verdana"/>
                <a:cs typeface="Verdana"/>
              </a:rPr>
              <a:t>&amp;</a:t>
            </a:r>
            <a:r>
              <a:rPr sz="2000" b="1" spc="34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D9D9D9"/>
                </a:solidFill>
                <a:latin typeface="Verdana"/>
                <a:cs typeface="Verdana"/>
              </a:rPr>
              <a:t>Wet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waste</a:t>
            </a:r>
            <a:r>
              <a:rPr sz="2000" b="1" spc="-65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in</a:t>
            </a:r>
            <a:r>
              <a:rPr sz="2000" b="1" spc="250" dirty="0">
                <a:solidFill>
                  <a:srgbClr val="D9D9D9"/>
                </a:solidFill>
                <a:latin typeface="Verdana"/>
                <a:cs typeface="Verdana"/>
              </a:rPr>
              <a:t>   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different</a:t>
            </a:r>
            <a:r>
              <a:rPr sz="2000" b="1" spc="-60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spc="-50" dirty="0">
                <a:solidFill>
                  <a:srgbClr val="D9D9D9"/>
                </a:solidFill>
                <a:latin typeface="Verdana"/>
                <a:cs typeface="Verdana"/>
              </a:rPr>
              <a:t>compartments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without</a:t>
            </a:r>
            <a:r>
              <a:rPr sz="2000" b="1" spc="375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any</a:t>
            </a:r>
            <a:r>
              <a:rPr sz="2000" b="1" spc="380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human</a:t>
            </a:r>
            <a:r>
              <a:rPr sz="2000" b="1" spc="375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D9D9D9"/>
                </a:solidFill>
                <a:latin typeface="Verdana"/>
                <a:cs typeface="Verdana"/>
              </a:rPr>
              <a:t>efforts</a:t>
            </a:r>
            <a:r>
              <a:rPr sz="2000" b="1" spc="380" dirty="0">
                <a:solidFill>
                  <a:srgbClr val="D9D9D9"/>
                </a:solidFill>
                <a:latin typeface="Verdana"/>
                <a:cs typeface="Verdana"/>
              </a:rPr>
              <a:t>  </a:t>
            </a:r>
            <a:r>
              <a:rPr sz="2000" b="1" spc="-25" dirty="0">
                <a:solidFill>
                  <a:srgbClr val="D9D9D9"/>
                </a:solidFill>
                <a:latin typeface="Verdana"/>
                <a:cs typeface="Verdana"/>
              </a:rPr>
              <a:t>and </a:t>
            </a:r>
            <a:r>
              <a:rPr sz="2000" b="1" spc="-65" dirty="0">
                <a:solidFill>
                  <a:srgbClr val="D9D9D9"/>
                </a:solidFill>
                <a:latin typeface="Verdana"/>
                <a:cs typeface="Verdana"/>
              </a:rPr>
              <a:t>monitoring</a:t>
            </a:r>
            <a:r>
              <a:rPr sz="2000" b="1" spc="-11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65" dirty="0">
                <a:solidFill>
                  <a:srgbClr val="D9D9D9"/>
                </a:solidFill>
                <a:latin typeface="Verdana"/>
                <a:cs typeface="Verdana"/>
              </a:rPr>
              <a:t>of</a:t>
            </a:r>
            <a:r>
              <a:rPr sz="2000" b="1" spc="-105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120" dirty="0">
                <a:solidFill>
                  <a:srgbClr val="D9D9D9"/>
                </a:solidFill>
                <a:latin typeface="Verdana"/>
                <a:cs typeface="Verdana"/>
              </a:rPr>
              <a:t>quantity/quality</a:t>
            </a:r>
            <a:r>
              <a:rPr sz="2000" b="1" spc="-55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40" dirty="0">
                <a:solidFill>
                  <a:srgbClr val="D9D9D9"/>
                </a:solidFill>
                <a:latin typeface="Verdana"/>
                <a:cs typeface="Verdana"/>
              </a:rPr>
              <a:t>filled</a:t>
            </a:r>
            <a:r>
              <a:rPr sz="2000" b="1" spc="-100" dirty="0">
                <a:solidFill>
                  <a:srgbClr val="D9D9D9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D9D9D9"/>
                </a:solidFill>
                <a:latin typeface="Verdana"/>
                <a:cs typeface="Verdana"/>
              </a:rPr>
              <a:t>in </a:t>
            </a:r>
            <a:r>
              <a:rPr sz="2000" b="1" spc="-80" dirty="0">
                <a:solidFill>
                  <a:srgbClr val="D9D9D9"/>
                </a:solidFill>
                <a:latin typeface="Verdana"/>
                <a:cs typeface="Verdana"/>
              </a:rPr>
              <a:t>those </a:t>
            </a:r>
            <a:r>
              <a:rPr sz="2000" b="1" spc="-10" dirty="0">
                <a:solidFill>
                  <a:srgbClr val="D9D9D9"/>
                </a:solidFill>
                <a:latin typeface="Verdana"/>
                <a:cs typeface="Verdana"/>
              </a:rPr>
              <a:t>dustbins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8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52400" y="1746441"/>
            <a:ext cx="4419600" cy="1650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0">
              <a:lnSpc>
                <a:spcPct val="1133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SmartBin</a:t>
            </a:r>
            <a:r>
              <a:rPr sz="1600" b="1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600" b="1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600" b="1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Arduino </a:t>
            </a:r>
            <a:r>
              <a:rPr sz="1600" b="1" spc="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lang="en-IN" sz="160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</a:p>
          <a:p>
            <a:pPr marL="12700" marR="82550">
              <a:lnSpc>
                <a:spcPct val="113300"/>
              </a:lnSpc>
              <a:spcBef>
                <a:spcPts val="100"/>
              </a:spcBef>
            </a:pPr>
            <a:r>
              <a:rPr lang="en-IN" sz="1600" b="1" spc="55" dirty="0">
                <a:solidFill>
                  <a:srgbClr val="FFFFFF"/>
                </a:solidFill>
                <a:latin typeface="Tahoma"/>
                <a:cs typeface="Tahoma"/>
              </a:rPr>
              <a:t>Sensors </a:t>
            </a:r>
            <a:r>
              <a:rPr sz="16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Tahoma"/>
                <a:cs typeface="Tahoma"/>
              </a:rPr>
              <a:t>IOT</a:t>
            </a:r>
            <a:r>
              <a:rPr sz="16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6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r>
              <a:rPr sz="16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smart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operating</a:t>
            </a:r>
            <a:r>
              <a:rPr lang="en-IN" sz="1600" b="1" dirty="0">
                <a:solidFill>
                  <a:srgbClr val="FFFFFF"/>
                </a:solidFill>
                <a:latin typeface="Tahoma"/>
                <a:cs typeface="Tahoma"/>
              </a:rPr>
              <a:t> by itself</a:t>
            </a:r>
            <a:endParaRPr sz="1600" dirty="0">
              <a:latin typeface="Tahoma"/>
              <a:cs typeface="Tahoma"/>
            </a:endParaRPr>
          </a:p>
          <a:p>
            <a:pPr marL="12700" marR="245745">
              <a:lnSpc>
                <a:spcPct val="113300"/>
              </a:lnSpc>
              <a:spcBef>
                <a:spcPts val="1650"/>
              </a:spcBef>
            </a:pP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600" b="1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600" b="1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affordable</a:t>
            </a:r>
            <a:r>
              <a:rPr sz="1600" b="1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FFFFFF"/>
                </a:solidFill>
                <a:latin typeface="Tahoma"/>
                <a:cs typeface="Tahoma"/>
              </a:rPr>
              <a:t>compact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r>
              <a:rPr sz="160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b="1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cooperative</a:t>
            </a:r>
            <a:r>
              <a:rPr sz="160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b="1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well</a:t>
            </a:r>
            <a:r>
              <a:rPr sz="160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1600" b="1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usage.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1C4B69-1AA6-3D32-22D5-B3110984C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7" t="6337" r="130" b="-4199"/>
          <a:stretch/>
        </p:blipFill>
        <p:spPr>
          <a:xfrm>
            <a:off x="4905248" y="839376"/>
            <a:ext cx="3543345" cy="3464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9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0" dirty="0"/>
              <a:t> </a:t>
            </a:r>
            <a:r>
              <a:rPr dirty="0"/>
              <a:t>Basic</a:t>
            </a:r>
            <a:r>
              <a:rPr spc="-145" dirty="0"/>
              <a:t> </a:t>
            </a:r>
            <a:r>
              <a:rPr spc="-10" dirty="0"/>
              <a:t>Design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428750"/>
            <a:ext cx="1472050" cy="3325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38400" y="1352550"/>
            <a:ext cx="5562600" cy="3059171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151130">
              <a:lnSpc>
                <a:spcPts val="2030"/>
              </a:lnSpc>
              <a:spcBef>
                <a:spcPts val="175"/>
              </a:spcBef>
            </a:pPr>
            <a:r>
              <a:rPr sz="1600" b="1" spc="-55" dirty="0">
                <a:solidFill>
                  <a:srgbClr val="FFFFFF"/>
                </a:solidFill>
                <a:latin typeface="Verdana"/>
                <a:cs typeface="Verdana"/>
              </a:rPr>
              <a:t>Consisting</a:t>
            </a:r>
            <a:r>
              <a:rPr sz="16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21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6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Verdana"/>
                <a:cs typeface="Verdana"/>
              </a:rPr>
              <a:t>Major</a:t>
            </a:r>
            <a:r>
              <a:rPr sz="16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Verdana"/>
                <a:cs typeface="Verdana"/>
              </a:rPr>
              <a:t>smart</a:t>
            </a:r>
            <a:r>
              <a:rPr sz="16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Verdana"/>
                <a:cs typeface="Verdana"/>
              </a:rPr>
              <a:t>systems </a:t>
            </a:r>
            <a:r>
              <a:rPr sz="1600" b="1" spc="-5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6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Verdana"/>
                <a:cs typeface="Verdana"/>
              </a:rPr>
              <a:t>one</a:t>
            </a:r>
            <a:r>
              <a:rPr sz="16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endParaRPr lang="en-IN" sz="1600" b="1" spc="-1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 marR="151130">
              <a:lnSpc>
                <a:spcPts val="2030"/>
              </a:lnSpc>
              <a:spcBef>
                <a:spcPts val="175"/>
              </a:spcBef>
            </a:pPr>
            <a:endParaRPr lang="en-IN" sz="1600" b="1" spc="-10" dirty="0">
              <a:solidFill>
                <a:srgbClr val="FFFFFF"/>
              </a:solidFill>
              <a:latin typeface="Verdana"/>
              <a:cs typeface="Verdana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Waste Detection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IR Sensors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identify and categorize waste (metallic, wet, or dry).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Automated Sorting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Servo Motors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move waste to the correct compartment.</a:t>
            </a:r>
          </a:p>
          <a:p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3. Sorting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Rotation Mechanism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: Rotates to bring the appropriate bin under the waste chute.</a:t>
            </a:r>
          </a:p>
          <a:p>
            <a:pPr marL="12700" marR="151130">
              <a:lnSpc>
                <a:spcPts val="2030"/>
              </a:lnSpc>
              <a:spcBef>
                <a:spcPts val="175"/>
              </a:spcBef>
            </a:pPr>
            <a:endParaRPr sz="17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1290" y="629440"/>
            <a:ext cx="5791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Working </a:t>
            </a:r>
            <a:r>
              <a:rPr spc="-10" dirty="0"/>
              <a:t>Cycle</a:t>
            </a:r>
            <a:r>
              <a:rPr spc="-15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dirty="0"/>
              <a:t>Segregation</a:t>
            </a:r>
            <a:r>
              <a:rPr spc="-155" dirty="0"/>
              <a:t> </a:t>
            </a:r>
            <a:r>
              <a:rPr spc="-20" dirty="0"/>
              <a:t>System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DE-</a:t>
            </a:r>
            <a:r>
              <a:rPr spc="-25" dirty="0"/>
              <a:t>2A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775" y="1843499"/>
            <a:ext cx="1765300" cy="1386277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STEP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9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lang="en-IN" sz="1600" spc="-49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spcBef>
                <a:spcPts val="1210"/>
              </a:spcBef>
            </a:pPr>
            <a:r>
              <a:rPr lang="en-US" sz="1100" spc="-10" dirty="0">
                <a:solidFill>
                  <a:schemeClr val="bg1"/>
                </a:solidFill>
              </a:rPr>
              <a:t>Drop the Waste: Waste is dropped into the pipe</a:t>
            </a:r>
            <a:r>
              <a:rPr lang="en-US" sz="1600" spc="-10" dirty="0">
                <a:solidFill>
                  <a:schemeClr val="bg1"/>
                </a:solidFill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775" y="3293439"/>
            <a:ext cx="1835785" cy="1267848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STEP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600" dirty="0">
              <a:latin typeface="Verdana"/>
              <a:cs typeface="Verdana"/>
            </a:endParaRPr>
          </a:p>
          <a:p>
            <a:pPr marL="12700" marR="5080">
              <a:lnSpc>
                <a:spcPct val="112500"/>
              </a:lnSpc>
              <a:spcBef>
                <a:spcPts val="360"/>
              </a:spcBef>
            </a:pP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Depending</a:t>
            </a:r>
            <a:r>
              <a:rPr sz="1000" b="1" spc="18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upon</a:t>
            </a:r>
            <a:r>
              <a:rPr sz="1000" b="1" spc="18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the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Threshold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set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70" dirty="0">
                <a:solidFill>
                  <a:srgbClr val="D9D9D9"/>
                </a:solidFill>
                <a:latin typeface="Tahoma"/>
                <a:cs typeface="Tahoma"/>
              </a:rPr>
              <a:t>,</a:t>
            </a:r>
            <a:r>
              <a:rPr sz="1000" b="1" spc="4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the</a:t>
            </a:r>
            <a:r>
              <a:rPr lang="en-IN" sz="1000" b="1" spc="-25" dirty="0">
                <a:solidFill>
                  <a:srgbClr val="D9D9D9"/>
                </a:solidFill>
                <a:latin typeface="Tahoma"/>
                <a:cs typeface="Tahoma"/>
              </a:rPr>
              <a:t> I r &amp;</a:t>
            </a:r>
            <a:r>
              <a:rPr sz="1000" b="1" spc="50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moisture</a:t>
            </a:r>
            <a:r>
              <a:rPr sz="1000" b="1" spc="8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sensor</a:t>
            </a:r>
            <a:r>
              <a:rPr sz="1000" b="1" spc="8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lang="en-IN" sz="1000" b="1" spc="85" dirty="0">
                <a:solidFill>
                  <a:srgbClr val="D9D9D9"/>
                </a:solidFill>
                <a:latin typeface="Tahoma"/>
                <a:cs typeface="Tahoma"/>
              </a:rPr>
              <a:t>or metal senser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classifies</a:t>
            </a:r>
            <a:r>
              <a:rPr sz="1000" b="1" spc="8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it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as</a:t>
            </a:r>
            <a:r>
              <a:rPr sz="1000" b="1" spc="3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lang="en-IN" sz="1000" b="1" spc="30" dirty="0">
                <a:solidFill>
                  <a:srgbClr val="D9D9D9"/>
                </a:solidFill>
                <a:latin typeface="Tahoma"/>
                <a:cs typeface="Tahoma"/>
              </a:rPr>
              <a:t>metal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Dry</a:t>
            </a:r>
            <a:r>
              <a:rPr sz="1000" b="1" spc="3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lang="en-IN" sz="1000" b="1" spc="30" dirty="0">
                <a:solidFill>
                  <a:srgbClr val="D9D9D9"/>
                </a:solidFill>
                <a:latin typeface="Tahoma"/>
                <a:cs typeface="Tahoma"/>
              </a:rPr>
              <a:t>or</a:t>
            </a:r>
            <a:r>
              <a:rPr sz="1000" b="1" spc="3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Wet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1610" y="1843499"/>
            <a:ext cx="1381760" cy="99441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STEP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1600" dirty="0">
              <a:latin typeface="Verdana"/>
              <a:cs typeface="Verdana"/>
            </a:endParaRPr>
          </a:p>
          <a:p>
            <a:pPr marL="12700" marR="5080">
              <a:lnSpc>
                <a:spcPct val="112500"/>
              </a:lnSpc>
              <a:spcBef>
                <a:spcPts val="545"/>
              </a:spcBef>
            </a:pP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The</a:t>
            </a:r>
            <a:r>
              <a:rPr sz="1000" b="1" spc="6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whole</a:t>
            </a:r>
            <a:r>
              <a:rPr sz="1000" b="1" spc="7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process</a:t>
            </a:r>
            <a:r>
              <a:rPr sz="1000" b="1" spc="7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is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Autonomous</a:t>
            </a:r>
            <a:r>
              <a:rPr sz="1000" b="1" spc="22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and </a:t>
            </a:r>
            <a:r>
              <a:rPr sz="1000" b="1" spc="-10" dirty="0">
                <a:solidFill>
                  <a:srgbClr val="D9D9D9"/>
                </a:solidFill>
                <a:latin typeface="Tahoma"/>
                <a:cs typeface="Tahoma"/>
              </a:rPr>
              <a:t>Continuous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6723" y="3244899"/>
            <a:ext cx="2032635" cy="11372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STEP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600" dirty="0">
              <a:latin typeface="Verdana"/>
              <a:cs typeface="Verdana"/>
            </a:endParaRPr>
          </a:p>
          <a:p>
            <a:pPr marL="12700" marR="5080" indent="34925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As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soon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step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60" dirty="0">
                <a:solidFill>
                  <a:srgbClr val="D9D9D9"/>
                </a:solidFill>
                <a:latin typeface="Tahoma"/>
                <a:cs typeface="Tahoma"/>
              </a:rPr>
              <a:t>2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is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done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D9D9D9"/>
                </a:solidFill>
                <a:latin typeface="Tahoma"/>
                <a:cs typeface="Tahoma"/>
              </a:rPr>
              <a:t>Servo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Motor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runs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to</a:t>
            </a:r>
            <a:r>
              <a:rPr sz="1000" b="1" spc="3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either</a:t>
            </a:r>
            <a:r>
              <a:rPr sz="1000" b="1" spc="4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D9D9D9"/>
                </a:solidFill>
                <a:latin typeface="Tahoma"/>
                <a:cs typeface="Tahoma"/>
              </a:rPr>
              <a:t>direction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depending</a:t>
            </a:r>
            <a:r>
              <a:rPr sz="1000" b="1" spc="9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upon</a:t>
            </a:r>
            <a:r>
              <a:rPr sz="1000" b="1" spc="9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the</a:t>
            </a:r>
            <a:r>
              <a:rPr sz="1000" b="1" spc="9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10" dirty="0">
                <a:solidFill>
                  <a:srgbClr val="D9D9D9"/>
                </a:solidFill>
                <a:latin typeface="Tahoma"/>
                <a:cs typeface="Tahoma"/>
              </a:rPr>
              <a:t>type</a:t>
            </a:r>
            <a:r>
              <a:rPr sz="1000" b="1" spc="9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of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waste</a:t>
            </a:r>
            <a:r>
              <a:rPr sz="1000" b="1" spc="4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and</a:t>
            </a:r>
            <a:r>
              <a:rPr sz="1000" b="1" spc="4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the</a:t>
            </a:r>
            <a:r>
              <a:rPr sz="1000" b="1" spc="50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waste</a:t>
            </a:r>
            <a:r>
              <a:rPr sz="1000" b="1" spc="4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goes</a:t>
            </a:r>
            <a:r>
              <a:rPr sz="1000" b="1" spc="4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D9D9D9"/>
                </a:solidFill>
                <a:latin typeface="Tahoma"/>
                <a:cs typeface="Tahoma"/>
              </a:rPr>
              <a:t>in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the</a:t>
            </a:r>
            <a:r>
              <a:rPr sz="1000" b="1" spc="8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D9D9D9"/>
                </a:solidFill>
                <a:latin typeface="Tahoma"/>
                <a:cs typeface="Tahoma"/>
              </a:rPr>
              <a:t>appropriate</a:t>
            </a:r>
            <a:r>
              <a:rPr sz="1000" b="1" spc="85" dirty="0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D9D9D9"/>
                </a:solidFill>
                <a:latin typeface="Tahoma"/>
                <a:cs typeface="Tahoma"/>
              </a:rPr>
              <a:t>compartment.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2992" y="1822175"/>
            <a:ext cx="7606030" cy="2833370"/>
            <a:chOff x="775982" y="1637087"/>
            <a:chExt cx="7606030" cy="2833370"/>
          </a:xfrm>
        </p:grpSpPr>
        <p:sp>
          <p:nvSpPr>
            <p:cNvPr id="8" name="object 8"/>
            <p:cNvSpPr/>
            <p:nvPr/>
          </p:nvSpPr>
          <p:spPr>
            <a:xfrm>
              <a:off x="780744" y="1641849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4">
                  <a:moveTo>
                    <a:pt x="7596299" y="0"/>
                  </a:moveTo>
                  <a:lnTo>
                    <a:pt x="0" y="10499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842" y="3044098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4">
                  <a:moveTo>
                    <a:pt x="2275500" y="0"/>
                  </a:moveTo>
                  <a:lnTo>
                    <a:pt x="0" y="10499"/>
                  </a:lnTo>
                </a:path>
                <a:path w="7596505" h="10794">
                  <a:moveTo>
                    <a:pt x="7596200" y="0"/>
                  </a:moveTo>
                  <a:lnTo>
                    <a:pt x="5320700" y="10499"/>
                  </a:lnTo>
                </a:path>
              </a:pathLst>
            </a:custGeom>
            <a:ln w="9524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744" y="4455174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5">
                  <a:moveTo>
                    <a:pt x="7596299" y="0"/>
                  </a:moveTo>
                  <a:lnTo>
                    <a:pt x="0" y="10499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71574" y="1660783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30">
                  <a:moveTo>
                    <a:pt x="0" y="1395386"/>
                  </a:moveTo>
                  <a:lnTo>
                    <a:pt x="846" y="1345031"/>
                  </a:lnTo>
                  <a:lnTo>
                    <a:pt x="3498" y="1294905"/>
                  </a:lnTo>
                  <a:lnTo>
                    <a:pt x="7938" y="1245054"/>
                  </a:lnTo>
                  <a:lnTo>
                    <a:pt x="14148" y="1195522"/>
                  </a:lnTo>
                  <a:lnTo>
                    <a:pt x="22109" y="1146351"/>
                  </a:lnTo>
                  <a:lnTo>
                    <a:pt x="31803" y="1097587"/>
                  </a:lnTo>
                  <a:lnTo>
                    <a:pt x="43213" y="1049274"/>
                  </a:lnTo>
                  <a:lnTo>
                    <a:pt x="56319" y="1001455"/>
                  </a:lnTo>
                  <a:lnTo>
                    <a:pt x="71103" y="954175"/>
                  </a:lnTo>
                  <a:lnTo>
                    <a:pt x="87548" y="907478"/>
                  </a:lnTo>
                  <a:lnTo>
                    <a:pt x="105635" y="861408"/>
                  </a:lnTo>
                  <a:lnTo>
                    <a:pt x="125345" y="816009"/>
                  </a:lnTo>
                  <a:lnTo>
                    <a:pt x="146662" y="771325"/>
                  </a:lnTo>
                  <a:lnTo>
                    <a:pt x="169566" y="727400"/>
                  </a:lnTo>
                  <a:lnTo>
                    <a:pt x="194038" y="684278"/>
                  </a:lnTo>
                  <a:lnTo>
                    <a:pt x="220062" y="642004"/>
                  </a:lnTo>
                  <a:lnTo>
                    <a:pt x="247619" y="600621"/>
                  </a:lnTo>
                  <a:lnTo>
                    <a:pt x="276690" y="560174"/>
                  </a:lnTo>
                  <a:lnTo>
                    <a:pt x="307258" y="520707"/>
                  </a:lnTo>
                  <a:lnTo>
                    <a:pt x="339303" y="482263"/>
                  </a:lnTo>
                  <a:lnTo>
                    <a:pt x="372809" y="444887"/>
                  </a:lnTo>
                  <a:lnTo>
                    <a:pt x="407756" y="408623"/>
                  </a:lnTo>
                  <a:lnTo>
                    <a:pt x="443989" y="373644"/>
                  </a:lnTo>
                  <a:lnTo>
                    <a:pt x="481336" y="340106"/>
                  </a:lnTo>
                  <a:lnTo>
                    <a:pt x="519751" y="308027"/>
                  </a:lnTo>
                  <a:lnTo>
                    <a:pt x="559192" y="277424"/>
                  </a:lnTo>
                  <a:lnTo>
                    <a:pt x="599613" y="248318"/>
                  </a:lnTo>
                  <a:lnTo>
                    <a:pt x="640972" y="220725"/>
                  </a:lnTo>
                  <a:lnTo>
                    <a:pt x="683223" y="194664"/>
                  </a:lnTo>
                  <a:lnTo>
                    <a:pt x="726323" y="170153"/>
                  </a:lnTo>
                  <a:lnTo>
                    <a:pt x="770228" y="147210"/>
                  </a:lnTo>
                  <a:lnTo>
                    <a:pt x="814893" y="125855"/>
                  </a:lnTo>
                  <a:lnTo>
                    <a:pt x="860275" y="106104"/>
                  </a:lnTo>
                  <a:lnTo>
                    <a:pt x="906329" y="87977"/>
                  </a:lnTo>
                  <a:lnTo>
                    <a:pt x="953012" y="71491"/>
                  </a:lnTo>
                  <a:lnTo>
                    <a:pt x="1000279" y="56665"/>
                  </a:lnTo>
                  <a:lnTo>
                    <a:pt x="1048086" y="43517"/>
                  </a:lnTo>
                  <a:lnTo>
                    <a:pt x="1096389" y="32065"/>
                  </a:lnTo>
                  <a:lnTo>
                    <a:pt x="1145144" y="22328"/>
                  </a:lnTo>
                  <a:lnTo>
                    <a:pt x="1194308" y="14324"/>
                  </a:lnTo>
                  <a:lnTo>
                    <a:pt x="1243835" y="8070"/>
                  </a:lnTo>
                  <a:lnTo>
                    <a:pt x="1293682" y="3586"/>
                  </a:lnTo>
                  <a:lnTo>
                    <a:pt x="1343805" y="890"/>
                  </a:lnTo>
                  <a:lnTo>
                    <a:pt x="1394159" y="0"/>
                  </a:lnTo>
                  <a:lnTo>
                    <a:pt x="1393648" y="1393649"/>
                  </a:lnTo>
                  <a:lnTo>
                    <a:pt x="0" y="1395386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3473" y="1660784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1395385" y="1394159"/>
                  </a:moveTo>
                  <a:lnTo>
                    <a:pt x="1736" y="1393648"/>
                  </a:lnTo>
                  <a:lnTo>
                    <a:pt x="0" y="0"/>
                  </a:lnTo>
                  <a:lnTo>
                    <a:pt x="50355" y="846"/>
                  </a:lnTo>
                  <a:lnTo>
                    <a:pt x="100480" y="3498"/>
                  </a:lnTo>
                  <a:lnTo>
                    <a:pt x="150331" y="7938"/>
                  </a:lnTo>
                  <a:lnTo>
                    <a:pt x="199864" y="14148"/>
                  </a:lnTo>
                  <a:lnTo>
                    <a:pt x="249034" y="22109"/>
                  </a:lnTo>
                  <a:lnTo>
                    <a:pt x="297798" y="31803"/>
                  </a:lnTo>
                  <a:lnTo>
                    <a:pt x="346111" y="43213"/>
                  </a:lnTo>
                  <a:lnTo>
                    <a:pt x="393930" y="56319"/>
                  </a:lnTo>
                  <a:lnTo>
                    <a:pt x="441210" y="71103"/>
                  </a:lnTo>
                  <a:lnTo>
                    <a:pt x="487907" y="87548"/>
                  </a:lnTo>
                  <a:lnTo>
                    <a:pt x="533977" y="105635"/>
                  </a:lnTo>
                  <a:lnTo>
                    <a:pt x="579376" y="125345"/>
                  </a:lnTo>
                  <a:lnTo>
                    <a:pt x="624060" y="146662"/>
                  </a:lnTo>
                  <a:lnTo>
                    <a:pt x="667985" y="169566"/>
                  </a:lnTo>
                  <a:lnTo>
                    <a:pt x="711107" y="194038"/>
                  </a:lnTo>
                  <a:lnTo>
                    <a:pt x="753381" y="220062"/>
                  </a:lnTo>
                  <a:lnTo>
                    <a:pt x="794764" y="247619"/>
                  </a:lnTo>
                  <a:lnTo>
                    <a:pt x="835211" y="276690"/>
                  </a:lnTo>
                  <a:lnTo>
                    <a:pt x="874678" y="307258"/>
                  </a:lnTo>
                  <a:lnTo>
                    <a:pt x="913122" y="339303"/>
                  </a:lnTo>
                  <a:lnTo>
                    <a:pt x="950498" y="372809"/>
                  </a:lnTo>
                  <a:lnTo>
                    <a:pt x="986762" y="407756"/>
                  </a:lnTo>
                  <a:lnTo>
                    <a:pt x="1021741" y="443989"/>
                  </a:lnTo>
                  <a:lnTo>
                    <a:pt x="1055279" y="481336"/>
                  </a:lnTo>
                  <a:lnTo>
                    <a:pt x="1087359" y="519751"/>
                  </a:lnTo>
                  <a:lnTo>
                    <a:pt x="1117961" y="559192"/>
                  </a:lnTo>
                  <a:lnTo>
                    <a:pt x="1147068" y="599613"/>
                  </a:lnTo>
                  <a:lnTo>
                    <a:pt x="1174661" y="640972"/>
                  </a:lnTo>
                  <a:lnTo>
                    <a:pt x="1200722" y="683223"/>
                  </a:lnTo>
                  <a:lnTo>
                    <a:pt x="1225233" y="726323"/>
                  </a:lnTo>
                  <a:lnTo>
                    <a:pt x="1248175" y="770228"/>
                  </a:lnTo>
                  <a:lnTo>
                    <a:pt x="1269531" y="814893"/>
                  </a:lnTo>
                  <a:lnTo>
                    <a:pt x="1289281" y="860275"/>
                  </a:lnTo>
                  <a:lnTo>
                    <a:pt x="1307409" y="906329"/>
                  </a:lnTo>
                  <a:lnTo>
                    <a:pt x="1323894" y="953012"/>
                  </a:lnTo>
                  <a:lnTo>
                    <a:pt x="1338720" y="1000279"/>
                  </a:lnTo>
                  <a:lnTo>
                    <a:pt x="1351868" y="1048086"/>
                  </a:lnTo>
                  <a:lnTo>
                    <a:pt x="1363320" y="1096389"/>
                  </a:lnTo>
                  <a:lnTo>
                    <a:pt x="1373057" y="1145144"/>
                  </a:lnTo>
                  <a:lnTo>
                    <a:pt x="1381062" y="1194308"/>
                  </a:lnTo>
                  <a:lnTo>
                    <a:pt x="1387315" y="1243835"/>
                  </a:lnTo>
                  <a:lnTo>
                    <a:pt x="1391799" y="1293682"/>
                  </a:lnTo>
                  <a:lnTo>
                    <a:pt x="1394495" y="1343805"/>
                  </a:lnTo>
                  <a:lnTo>
                    <a:pt x="1395385" y="1394159"/>
                  </a:lnTo>
                  <a:close/>
                </a:path>
              </a:pathLst>
            </a:custGeom>
            <a:solidFill>
              <a:srgbClr val="0D47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64698" y="3052681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29">
                  <a:moveTo>
                    <a:pt x="0" y="1395386"/>
                  </a:moveTo>
                  <a:lnTo>
                    <a:pt x="511" y="1736"/>
                  </a:lnTo>
                  <a:lnTo>
                    <a:pt x="1394160" y="0"/>
                  </a:lnTo>
                  <a:lnTo>
                    <a:pt x="1393314" y="50355"/>
                  </a:lnTo>
                  <a:lnTo>
                    <a:pt x="1390661" y="100480"/>
                  </a:lnTo>
                  <a:lnTo>
                    <a:pt x="1386221" y="150331"/>
                  </a:lnTo>
                  <a:lnTo>
                    <a:pt x="1380011" y="199864"/>
                  </a:lnTo>
                  <a:lnTo>
                    <a:pt x="1372050" y="249034"/>
                  </a:lnTo>
                  <a:lnTo>
                    <a:pt x="1362356" y="297798"/>
                  </a:lnTo>
                  <a:lnTo>
                    <a:pt x="1350947" y="346112"/>
                  </a:lnTo>
                  <a:lnTo>
                    <a:pt x="1337841" y="393930"/>
                  </a:lnTo>
                  <a:lnTo>
                    <a:pt x="1323056" y="441210"/>
                  </a:lnTo>
                  <a:lnTo>
                    <a:pt x="1306611" y="487907"/>
                  </a:lnTo>
                  <a:lnTo>
                    <a:pt x="1288524" y="533977"/>
                  </a:lnTo>
                  <a:lnTo>
                    <a:pt x="1268814" y="579377"/>
                  </a:lnTo>
                  <a:lnTo>
                    <a:pt x="1247497" y="624061"/>
                  </a:lnTo>
                  <a:lnTo>
                    <a:pt x="1224594" y="667986"/>
                  </a:lnTo>
                  <a:lnTo>
                    <a:pt x="1200121" y="711107"/>
                  </a:lnTo>
                  <a:lnTo>
                    <a:pt x="1174097" y="753381"/>
                  </a:lnTo>
                  <a:lnTo>
                    <a:pt x="1146540" y="794764"/>
                  </a:lnTo>
                  <a:lnTo>
                    <a:pt x="1117469" y="835211"/>
                  </a:lnTo>
                  <a:lnTo>
                    <a:pt x="1086901" y="874679"/>
                  </a:lnTo>
                  <a:lnTo>
                    <a:pt x="1054856" y="913122"/>
                  </a:lnTo>
                  <a:lnTo>
                    <a:pt x="1021350" y="950498"/>
                  </a:lnTo>
                  <a:lnTo>
                    <a:pt x="986403" y="986762"/>
                  </a:lnTo>
                  <a:lnTo>
                    <a:pt x="950170" y="1021741"/>
                  </a:lnTo>
                  <a:lnTo>
                    <a:pt x="912824" y="1055279"/>
                  </a:lnTo>
                  <a:lnTo>
                    <a:pt x="874408" y="1087359"/>
                  </a:lnTo>
                  <a:lnTo>
                    <a:pt x="834968" y="1117961"/>
                  </a:lnTo>
                  <a:lnTo>
                    <a:pt x="794546" y="1147068"/>
                  </a:lnTo>
                  <a:lnTo>
                    <a:pt x="753188" y="1174661"/>
                  </a:lnTo>
                  <a:lnTo>
                    <a:pt x="710936" y="1200722"/>
                  </a:lnTo>
                  <a:lnTo>
                    <a:pt x="667836" y="1225233"/>
                  </a:lnTo>
                  <a:lnTo>
                    <a:pt x="623931" y="1248175"/>
                  </a:lnTo>
                  <a:lnTo>
                    <a:pt x="579266" y="1269531"/>
                  </a:lnTo>
                  <a:lnTo>
                    <a:pt x="533884" y="1289281"/>
                  </a:lnTo>
                  <a:lnTo>
                    <a:pt x="487830" y="1307408"/>
                  </a:lnTo>
                  <a:lnTo>
                    <a:pt x="441147" y="1323894"/>
                  </a:lnTo>
                  <a:lnTo>
                    <a:pt x="393880" y="1338720"/>
                  </a:lnTo>
                  <a:lnTo>
                    <a:pt x="346073" y="1351868"/>
                  </a:lnTo>
                  <a:lnTo>
                    <a:pt x="297770" y="1363320"/>
                  </a:lnTo>
                  <a:lnTo>
                    <a:pt x="249015" y="1373057"/>
                  </a:lnTo>
                  <a:lnTo>
                    <a:pt x="199851" y="1381062"/>
                  </a:lnTo>
                  <a:lnTo>
                    <a:pt x="150324" y="1387315"/>
                  </a:lnTo>
                  <a:lnTo>
                    <a:pt x="100477" y="1391799"/>
                  </a:lnTo>
                  <a:lnTo>
                    <a:pt x="50354" y="1394495"/>
                  </a:lnTo>
                  <a:lnTo>
                    <a:pt x="0" y="1395386"/>
                  </a:lnTo>
                  <a:close/>
                </a:path>
              </a:pathLst>
            </a:custGeom>
            <a:solidFill>
              <a:srgbClr val="197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71572" y="3053906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1395386" y="1394159"/>
                  </a:moveTo>
                  <a:lnTo>
                    <a:pt x="1345031" y="1393313"/>
                  </a:lnTo>
                  <a:lnTo>
                    <a:pt x="1294905" y="1390661"/>
                  </a:lnTo>
                  <a:lnTo>
                    <a:pt x="1245054" y="1386221"/>
                  </a:lnTo>
                  <a:lnTo>
                    <a:pt x="1195522" y="1380011"/>
                  </a:lnTo>
                  <a:lnTo>
                    <a:pt x="1146351" y="1372050"/>
                  </a:lnTo>
                  <a:lnTo>
                    <a:pt x="1097587" y="1362356"/>
                  </a:lnTo>
                  <a:lnTo>
                    <a:pt x="1049274" y="1350946"/>
                  </a:lnTo>
                  <a:lnTo>
                    <a:pt x="1001455" y="1337840"/>
                  </a:lnTo>
                  <a:lnTo>
                    <a:pt x="954175" y="1323056"/>
                  </a:lnTo>
                  <a:lnTo>
                    <a:pt x="907478" y="1306611"/>
                  </a:lnTo>
                  <a:lnTo>
                    <a:pt x="861408" y="1288524"/>
                  </a:lnTo>
                  <a:lnTo>
                    <a:pt x="816009" y="1268814"/>
                  </a:lnTo>
                  <a:lnTo>
                    <a:pt x="771325" y="1247497"/>
                  </a:lnTo>
                  <a:lnTo>
                    <a:pt x="727400" y="1224594"/>
                  </a:lnTo>
                  <a:lnTo>
                    <a:pt x="684278" y="1200121"/>
                  </a:lnTo>
                  <a:lnTo>
                    <a:pt x="642004" y="1174097"/>
                  </a:lnTo>
                  <a:lnTo>
                    <a:pt x="600621" y="1146540"/>
                  </a:lnTo>
                  <a:lnTo>
                    <a:pt x="560174" y="1117469"/>
                  </a:lnTo>
                  <a:lnTo>
                    <a:pt x="520707" y="1086901"/>
                  </a:lnTo>
                  <a:lnTo>
                    <a:pt x="482263" y="1054856"/>
                  </a:lnTo>
                  <a:lnTo>
                    <a:pt x="444887" y="1021350"/>
                  </a:lnTo>
                  <a:lnTo>
                    <a:pt x="408623" y="986403"/>
                  </a:lnTo>
                  <a:lnTo>
                    <a:pt x="373644" y="950170"/>
                  </a:lnTo>
                  <a:lnTo>
                    <a:pt x="340106" y="912824"/>
                  </a:lnTo>
                  <a:lnTo>
                    <a:pt x="308027" y="874408"/>
                  </a:lnTo>
                  <a:lnTo>
                    <a:pt x="277425" y="834968"/>
                  </a:lnTo>
                  <a:lnTo>
                    <a:pt x="248318" y="794546"/>
                  </a:lnTo>
                  <a:lnTo>
                    <a:pt x="220725" y="753188"/>
                  </a:lnTo>
                  <a:lnTo>
                    <a:pt x="194664" y="710936"/>
                  </a:lnTo>
                  <a:lnTo>
                    <a:pt x="170153" y="667836"/>
                  </a:lnTo>
                  <a:lnTo>
                    <a:pt x="147210" y="623932"/>
                  </a:lnTo>
                  <a:lnTo>
                    <a:pt x="125855" y="579266"/>
                  </a:lnTo>
                  <a:lnTo>
                    <a:pt x="106104" y="533884"/>
                  </a:lnTo>
                  <a:lnTo>
                    <a:pt x="87977" y="487830"/>
                  </a:lnTo>
                  <a:lnTo>
                    <a:pt x="71491" y="441147"/>
                  </a:lnTo>
                  <a:lnTo>
                    <a:pt x="56665" y="393880"/>
                  </a:lnTo>
                  <a:lnTo>
                    <a:pt x="43517" y="346073"/>
                  </a:lnTo>
                  <a:lnTo>
                    <a:pt x="32065" y="297770"/>
                  </a:lnTo>
                  <a:lnTo>
                    <a:pt x="22328" y="249015"/>
                  </a:lnTo>
                  <a:lnTo>
                    <a:pt x="14324" y="199851"/>
                  </a:lnTo>
                  <a:lnTo>
                    <a:pt x="8070" y="150324"/>
                  </a:lnTo>
                  <a:lnTo>
                    <a:pt x="3586" y="100477"/>
                  </a:lnTo>
                  <a:lnTo>
                    <a:pt x="890" y="50354"/>
                  </a:lnTo>
                  <a:lnTo>
                    <a:pt x="0" y="0"/>
                  </a:lnTo>
                  <a:lnTo>
                    <a:pt x="1393649" y="511"/>
                  </a:lnTo>
                  <a:lnTo>
                    <a:pt x="1395386" y="1394159"/>
                  </a:lnTo>
                  <a:close/>
                </a:path>
              </a:pathLst>
            </a:custGeom>
            <a:solidFill>
              <a:srgbClr val="219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6934" y="2870741"/>
              <a:ext cx="981264" cy="7404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70605" y="2769120"/>
              <a:ext cx="584200" cy="584835"/>
            </a:xfrm>
            <a:custGeom>
              <a:avLst/>
              <a:gdLst/>
              <a:ahLst/>
              <a:cxnLst/>
              <a:rect l="l" t="t" r="r" b="b"/>
              <a:pathLst>
                <a:path w="584200" h="584835">
                  <a:moveTo>
                    <a:pt x="583869" y="288594"/>
                  </a:moveTo>
                  <a:lnTo>
                    <a:pt x="580072" y="245249"/>
                  </a:lnTo>
                  <a:lnTo>
                    <a:pt x="569912" y="202946"/>
                  </a:lnTo>
                  <a:lnTo>
                    <a:pt x="553529" y="162433"/>
                  </a:lnTo>
                  <a:lnTo>
                    <a:pt x="531037" y="124485"/>
                  </a:lnTo>
                  <a:lnTo>
                    <a:pt x="502564" y="89852"/>
                  </a:lnTo>
                  <a:lnTo>
                    <a:pt x="468236" y="59296"/>
                  </a:lnTo>
                  <a:lnTo>
                    <a:pt x="429590" y="34442"/>
                  </a:lnTo>
                  <a:lnTo>
                    <a:pt x="388594" y="16332"/>
                  </a:lnTo>
                  <a:lnTo>
                    <a:pt x="345998" y="4876"/>
                  </a:lnTo>
                  <a:lnTo>
                    <a:pt x="302602" y="0"/>
                  </a:lnTo>
                  <a:lnTo>
                    <a:pt x="259143" y="1612"/>
                  </a:lnTo>
                  <a:lnTo>
                    <a:pt x="216408" y="9626"/>
                  </a:lnTo>
                  <a:lnTo>
                    <a:pt x="175158" y="23952"/>
                  </a:lnTo>
                  <a:lnTo>
                    <a:pt x="136156" y="44500"/>
                  </a:lnTo>
                  <a:lnTo>
                    <a:pt x="100164" y="71208"/>
                  </a:lnTo>
                  <a:lnTo>
                    <a:pt x="67970" y="103962"/>
                  </a:lnTo>
                  <a:lnTo>
                    <a:pt x="41236" y="141325"/>
                  </a:lnTo>
                  <a:lnTo>
                    <a:pt x="21120" y="181381"/>
                  </a:lnTo>
                  <a:lnTo>
                    <a:pt x="7581" y="223367"/>
                  </a:lnTo>
                  <a:lnTo>
                    <a:pt x="558" y="266484"/>
                  </a:lnTo>
                  <a:lnTo>
                    <a:pt x="0" y="309981"/>
                  </a:lnTo>
                  <a:lnTo>
                    <a:pt x="5880" y="353098"/>
                  </a:lnTo>
                  <a:lnTo>
                    <a:pt x="18135" y="395046"/>
                  </a:lnTo>
                  <a:lnTo>
                    <a:pt x="36715" y="435051"/>
                  </a:lnTo>
                  <a:lnTo>
                    <a:pt x="61595" y="472363"/>
                  </a:lnTo>
                  <a:lnTo>
                    <a:pt x="92697" y="506183"/>
                  </a:lnTo>
                  <a:lnTo>
                    <a:pt x="128663" y="534784"/>
                  </a:lnTo>
                  <a:lnTo>
                    <a:pt x="167652" y="556907"/>
                  </a:lnTo>
                  <a:lnTo>
                    <a:pt x="208889" y="572554"/>
                  </a:lnTo>
                  <a:lnTo>
                    <a:pt x="251587" y="581748"/>
                  </a:lnTo>
                  <a:lnTo>
                    <a:pt x="294982" y="584492"/>
                  </a:lnTo>
                  <a:lnTo>
                    <a:pt x="338302" y="580796"/>
                  </a:lnTo>
                  <a:lnTo>
                    <a:pt x="380784" y="570674"/>
                  </a:lnTo>
                  <a:lnTo>
                    <a:pt x="421652" y="554126"/>
                  </a:lnTo>
                  <a:lnTo>
                    <a:pt x="460133" y="531152"/>
                  </a:lnTo>
                  <a:lnTo>
                    <a:pt x="495439" y="501777"/>
                  </a:lnTo>
                  <a:lnTo>
                    <a:pt x="533031" y="457047"/>
                  </a:lnTo>
                  <a:lnTo>
                    <a:pt x="555891" y="417195"/>
                  </a:lnTo>
                  <a:lnTo>
                    <a:pt x="571906" y="375323"/>
                  </a:lnTo>
                  <a:lnTo>
                    <a:pt x="581190" y="332206"/>
                  </a:lnTo>
                  <a:lnTo>
                    <a:pt x="583869" y="288594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23890" y="2947754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93596" y="3731945"/>
            <a:ext cx="791845" cy="981710"/>
            <a:chOff x="4293596" y="3731945"/>
            <a:chExt cx="791845" cy="98171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422" y="3731945"/>
              <a:ext cx="740426" cy="9812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93590" y="3864876"/>
              <a:ext cx="584835" cy="584200"/>
            </a:xfrm>
            <a:custGeom>
              <a:avLst/>
              <a:gdLst/>
              <a:ahLst/>
              <a:cxnLst/>
              <a:rect l="l" t="t" r="r" b="b"/>
              <a:pathLst>
                <a:path w="584835" h="584200">
                  <a:moveTo>
                    <a:pt x="584492" y="288874"/>
                  </a:moveTo>
                  <a:lnTo>
                    <a:pt x="580796" y="245554"/>
                  </a:lnTo>
                  <a:lnTo>
                    <a:pt x="570674" y="203073"/>
                  </a:lnTo>
                  <a:lnTo>
                    <a:pt x="554126" y="162204"/>
                  </a:lnTo>
                  <a:lnTo>
                    <a:pt x="531152" y="123736"/>
                  </a:lnTo>
                  <a:lnTo>
                    <a:pt x="501777" y="88417"/>
                  </a:lnTo>
                  <a:lnTo>
                    <a:pt x="457047" y="50825"/>
                  </a:lnTo>
                  <a:lnTo>
                    <a:pt x="417195" y="27965"/>
                  </a:lnTo>
                  <a:lnTo>
                    <a:pt x="375323" y="11963"/>
                  </a:lnTo>
                  <a:lnTo>
                    <a:pt x="332206" y="2679"/>
                  </a:lnTo>
                  <a:lnTo>
                    <a:pt x="288594" y="0"/>
                  </a:lnTo>
                  <a:lnTo>
                    <a:pt x="245249" y="3797"/>
                  </a:lnTo>
                  <a:lnTo>
                    <a:pt x="202946" y="13944"/>
                  </a:lnTo>
                  <a:lnTo>
                    <a:pt x="162433" y="30327"/>
                  </a:lnTo>
                  <a:lnTo>
                    <a:pt x="124485" y="52819"/>
                  </a:lnTo>
                  <a:lnTo>
                    <a:pt x="89852" y="81292"/>
                  </a:lnTo>
                  <a:lnTo>
                    <a:pt x="59296" y="115620"/>
                  </a:lnTo>
                  <a:lnTo>
                    <a:pt x="34442" y="154266"/>
                  </a:lnTo>
                  <a:lnTo>
                    <a:pt x="16332" y="195275"/>
                  </a:lnTo>
                  <a:lnTo>
                    <a:pt x="4876" y="237858"/>
                  </a:lnTo>
                  <a:lnTo>
                    <a:pt x="0" y="281266"/>
                  </a:lnTo>
                  <a:lnTo>
                    <a:pt x="1612" y="324713"/>
                  </a:lnTo>
                  <a:lnTo>
                    <a:pt x="9613" y="367449"/>
                  </a:lnTo>
                  <a:lnTo>
                    <a:pt x="23939" y="408711"/>
                  </a:lnTo>
                  <a:lnTo>
                    <a:pt x="44500" y="447713"/>
                  </a:lnTo>
                  <a:lnTo>
                    <a:pt x="71208" y="483692"/>
                  </a:lnTo>
                  <a:lnTo>
                    <a:pt x="103962" y="515899"/>
                  </a:lnTo>
                  <a:lnTo>
                    <a:pt x="141325" y="542620"/>
                  </a:lnTo>
                  <a:lnTo>
                    <a:pt x="181381" y="562737"/>
                  </a:lnTo>
                  <a:lnTo>
                    <a:pt x="223354" y="576287"/>
                  </a:lnTo>
                  <a:lnTo>
                    <a:pt x="266484" y="583311"/>
                  </a:lnTo>
                  <a:lnTo>
                    <a:pt x="309981" y="583857"/>
                  </a:lnTo>
                  <a:lnTo>
                    <a:pt x="353098" y="577989"/>
                  </a:lnTo>
                  <a:lnTo>
                    <a:pt x="395033" y="565734"/>
                  </a:lnTo>
                  <a:lnTo>
                    <a:pt x="435051" y="547141"/>
                  </a:lnTo>
                  <a:lnTo>
                    <a:pt x="472351" y="522274"/>
                  </a:lnTo>
                  <a:lnTo>
                    <a:pt x="506183" y="491172"/>
                  </a:lnTo>
                  <a:lnTo>
                    <a:pt x="534784" y="455193"/>
                  </a:lnTo>
                  <a:lnTo>
                    <a:pt x="556895" y="416204"/>
                  </a:lnTo>
                  <a:lnTo>
                    <a:pt x="572554" y="374980"/>
                  </a:lnTo>
                  <a:lnTo>
                    <a:pt x="581748" y="332282"/>
                  </a:lnTo>
                  <a:lnTo>
                    <a:pt x="584492" y="288874"/>
                  </a:lnTo>
                  <a:close/>
                </a:path>
              </a:pathLst>
            </a:custGeom>
            <a:solidFill>
              <a:srgbClr val="219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45127" y="4035844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93627" y="2629687"/>
            <a:ext cx="974725" cy="741045"/>
            <a:chOff x="5193627" y="2629687"/>
            <a:chExt cx="974725" cy="74104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3627" y="2629687"/>
              <a:ext cx="974218" cy="7192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74957" y="2785732"/>
              <a:ext cx="584200" cy="584835"/>
            </a:xfrm>
            <a:custGeom>
              <a:avLst/>
              <a:gdLst/>
              <a:ahLst/>
              <a:cxnLst/>
              <a:rect l="l" t="t" r="r" b="b"/>
              <a:pathLst>
                <a:path w="584200" h="584835">
                  <a:moveTo>
                    <a:pt x="583882" y="274485"/>
                  </a:moveTo>
                  <a:lnTo>
                    <a:pt x="578002" y="231368"/>
                  </a:lnTo>
                  <a:lnTo>
                    <a:pt x="565734" y="189433"/>
                  </a:lnTo>
                  <a:lnTo>
                    <a:pt x="547154" y="149415"/>
                  </a:lnTo>
                  <a:lnTo>
                    <a:pt x="522274" y="112115"/>
                  </a:lnTo>
                  <a:lnTo>
                    <a:pt x="491159" y="78282"/>
                  </a:lnTo>
                  <a:lnTo>
                    <a:pt x="455193" y="49695"/>
                  </a:lnTo>
                  <a:lnTo>
                    <a:pt x="416191" y="27584"/>
                  </a:lnTo>
                  <a:lnTo>
                    <a:pt x="374967" y="11925"/>
                  </a:lnTo>
                  <a:lnTo>
                    <a:pt x="332270" y="2743"/>
                  </a:lnTo>
                  <a:lnTo>
                    <a:pt x="288861" y="0"/>
                  </a:lnTo>
                  <a:lnTo>
                    <a:pt x="245541" y="3695"/>
                  </a:lnTo>
                  <a:lnTo>
                    <a:pt x="203060" y="13830"/>
                  </a:lnTo>
                  <a:lnTo>
                    <a:pt x="162191" y="30378"/>
                  </a:lnTo>
                  <a:lnTo>
                    <a:pt x="123723" y="53352"/>
                  </a:lnTo>
                  <a:lnTo>
                    <a:pt x="88404" y="82740"/>
                  </a:lnTo>
                  <a:lnTo>
                    <a:pt x="50825" y="127469"/>
                  </a:lnTo>
                  <a:lnTo>
                    <a:pt x="27965" y="167322"/>
                  </a:lnTo>
                  <a:lnTo>
                    <a:pt x="11963" y="209194"/>
                  </a:lnTo>
                  <a:lnTo>
                    <a:pt x="2679" y="252323"/>
                  </a:lnTo>
                  <a:lnTo>
                    <a:pt x="0" y="295935"/>
                  </a:lnTo>
                  <a:lnTo>
                    <a:pt x="3810" y="339280"/>
                  </a:lnTo>
                  <a:lnTo>
                    <a:pt x="13970" y="381584"/>
                  </a:lnTo>
                  <a:lnTo>
                    <a:pt x="30353" y="422097"/>
                  </a:lnTo>
                  <a:lnTo>
                    <a:pt x="52844" y="460044"/>
                  </a:lnTo>
                  <a:lnTo>
                    <a:pt x="81318" y="494677"/>
                  </a:lnTo>
                  <a:lnTo>
                    <a:pt x="115658" y="525221"/>
                  </a:lnTo>
                  <a:lnTo>
                    <a:pt x="154305" y="550075"/>
                  </a:lnTo>
                  <a:lnTo>
                    <a:pt x="195313" y="568185"/>
                  </a:lnTo>
                  <a:lnTo>
                    <a:pt x="237896" y="579628"/>
                  </a:lnTo>
                  <a:lnTo>
                    <a:pt x="281305" y="584504"/>
                  </a:lnTo>
                  <a:lnTo>
                    <a:pt x="324751" y="582891"/>
                  </a:lnTo>
                  <a:lnTo>
                    <a:pt x="367499" y="574878"/>
                  </a:lnTo>
                  <a:lnTo>
                    <a:pt x="408749" y="560539"/>
                  </a:lnTo>
                  <a:lnTo>
                    <a:pt x="447751" y="539978"/>
                  </a:lnTo>
                  <a:lnTo>
                    <a:pt x="483730" y="513283"/>
                  </a:lnTo>
                  <a:lnTo>
                    <a:pt x="515937" y="480517"/>
                  </a:lnTo>
                  <a:lnTo>
                    <a:pt x="542658" y="443141"/>
                  </a:lnTo>
                  <a:lnTo>
                    <a:pt x="562762" y="403085"/>
                  </a:lnTo>
                  <a:lnTo>
                    <a:pt x="576313" y="361111"/>
                  </a:lnTo>
                  <a:lnTo>
                    <a:pt x="583323" y="317982"/>
                  </a:lnTo>
                  <a:lnTo>
                    <a:pt x="583882" y="274485"/>
                  </a:lnTo>
                  <a:close/>
                </a:path>
              </a:pathLst>
            </a:custGeom>
            <a:solidFill>
              <a:srgbClr val="197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28779" y="2947754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71589" y="1498799"/>
            <a:ext cx="791845" cy="981710"/>
            <a:chOff x="4071589" y="1498799"/>
            <a:chExt cx="791845" cy="98171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1589" y="1498799"/>
              <a:ext cx="740426" cy="98126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278337" y="1661680"/>
              <a:ext cx="584835" cy="584200"/>
            </a:xfrm>
            <a:custGeom>
              <a:avLst/>
              <a:gdLst/>
              <a:ahLst/>
              <a:cxnLst/>
              <a:rect l="l" t="t" r="r" b="b"/>
              <a:pathLst>
                <a:path w="584835" h="584200">
                  <a:moveTo>
                    <a:pt x="584492" y="302602"/>
                  </a:moveTo>
                  <a:lnTo>
                    <a:pt x="582891" y="259156"/>
                  </a:lnTo>
                  <a:lnTo>
                    <a:pt x="574878" y="216408"/>
                  </a:lnTo>
                  <a:lnTo>
                    <a:pt x="560552" y="175158"/>
                  </a:lnTo>
                  <a:lnTo>
                    <a:pt x="539991" y="136156"/>
                  </a:lnTo>
                  <a:lnTo>
                    <a:pt x="513295" y="100164"/>
                  </a:lnTo>
                  <a:lnTo>
                    <a:pt x="480529" y="67970"/>
                  </a:lnTo>
                  <a:lnTo>
                    <a:pt x="443166" y="41236"/>
                  </a:lnTo>
                  <a:lnTo>
                    <a:pt x="403110" y="21132"/>
                  </a:lnTo>
                  <a:lnTo>
                    <a:pt x="361137" y="7581"/>
                  </a:lnTo>
                  <a:lnTo>
                    <a:pt x="318008" y="558"/>
                  </a:lnTo>
                  <a:lnTo>
                    <a:pt x="274510" y="0"/>
                  </a:lnTo>
                  <a:lnTo>
                    <a:pt x="231406" y="5880"/>
                  </a:lnTo>
                  <a:lnTo>
                    <a:pt x="189458" y="18135"/>
                  </a:lnTo>
                  <a:lnTo>
                    <a:pt x="149440" y="36715"/>
                  </a:lnTo>
                  <a:lnTo>
                    <a:pt x="112141" y="61595"/>
                  </a:lnTo>
                  <a:lnTo>
                    <a:pt x="78308" y="92697"/>
                  </a:lnTo>
                  <a:lnTo>
                    <a:pt x="49720" y="128676"/>
                  </a:lnTo>
                  <a:lnTo>
                    <a:pt x="27597" y="167652"/>
                  </a:lnTo>
                  <a:lnTo>
                    <a:pt x="11938" y="208889"/>
                  </a:lnTo>
                  <a:lnTo>
                    <a:pt x="2743" y="251587"/>
                  </a:lnTo>
                  <a:lnTo>
                    <a:pt x="0" y="294982"/>
                  </a:lnTo>
                  <a:lnTo>
                    <a:pt x="3695" y="338315"/>
                  </a:lnTo>
                  <a:lnTo>
                    <a:pt x="13830" y="380796"/>
                  </a:lnTo>
                  <a:lnTo>
                    <a:pt x="30378" y="421652"/>
                  </a:lnTo>
                  <a:lnTo>
                    <a:pt x="53340" y="460133"/>
                  </a:lnTo>
                  <a:lnTo>
                    <a:pt x="82715" y="495439"/>
                  </a:lnTo>
                  <a:lnTo>
                    <a:pt x="127457" y="533031"/>
                  </a:lnTo>
                  <a:lnTo>
                    <a:pt x="167297" y="555891"/>
                  </a:lnTo>
                  <a:lnTo>
                    <a:pt x="209169" y="571906"/>
                  </a:lnTo>
                  <a:lnTo>
                    <a:pt x="252298" y="581190"/>
                  </a:lnTo>
                  <a:lnTo>
                    <a:pt x="295910" y="583869"/>
                  </a:lnTo>
                  <a:lnTo>
                    <a:pt x="339242" y="580072"/>
                  </a:lnTo>
                  <a:lnTo>
                    <a:pt x="381546" y="569912"/>
                  </a:lnTo>
                  <a:lnTo>
                    <a:pt x="422059" y="553529"/>
                  </a:lnTo>
                  <a:lnTo>
                    <a:pt x="460019" y="531037"/>
                  </a:lnTo>
                  <a:lnTo>
                    <a:pt x="494652" y="502577"/>
                  </a:lnTo>
                  <a:lnTo>
                    <a:pt x="525195" y="468236"/>
                  </a:lnTo>
                  <a:lnTo>
                    <a:pt x="550049" y="429590"/>
                  </a:lnTo>
                  <a:lnTo>
                    <a:pt x="568159" y="388594"/>
                  </a:lnTo>
                  <a:lnTo>
                    <a:pt x="579615" y="346011"/>
                  </a:lnTo>
                  <a:lnTo>
                    <a:pt x="584492" y="302602"/>
                  </a:lnTo>
                  <a:close/>
                </a:path>
              </a:pathLst>
            </a:custGeom>
            <a:solidFill>
              <a:srgbClr val="0D47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45127" y="1829990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53714" y="2242913"/>
            <a:ext cx="1623060" cy="1623060"/>
          </a:xfrm>
          <a:custGeom>
            <a:avLst/>
            <a:gdLst/>
            <a:ahLst/>
            <a:cxnLst/>
            <a:rect l="l" t="t" r="r" b="b"/>
            <a:pathLst>
              <a:path w="1623060" h="1623060">
                <a:moveTo>
                  <a:pt x="811499" y="1622999"/>
                </a:moveTo>
                <a:lnTo>
                  <a:pt x="763818" y="1621622"/>
                </a:lnTo>
                <a:lnTo>
                  <a:pt x="716861" y="1617540"/>
                </a:lnTo>
                <a:lnTo>
                  <a:pt x="670707" y="1610829"/>
                </a:lnTo>
                <a:lnTo>
                  <a:pt x="625430" y="1601567"/>
                </a:lnTo>
                <a:lnTo>
                  <a:pt x="581107" y="1589828"/>
                </a:lnTo>
                <a:lnTo>
                  <a:pt x="537814" y="1575690"/>
                </a:lnTo>
                <a:lnTo>
                  <a:pt x="495627" y="1559228"/>
                </a:lnTo>
                <a:lnTo>
                  <a:pt x="454622" y="1540517"/>
                </a:lnTo>
                <a:lnTo>
                  <a:pt x="414876" y="1519636"/>
                </a:lnTo>
                <a:lnTo>
                  <a:pt x="376464" y="1496659"/>
                </a:lnTo>
                <a:lnTo>
                  <a:pt x="339463" y="1471662"/>
                </a:lnTo>
                <a:lnTo>
                  <a:pt x="303948" y="1444722"/>
                </a:lnTo>
                <a:lnTo>
                  <a:pt x="269996" y="1415915"/>
                </a:lnTo>
                <a:lnTo>
                  <a:pt x="237682" y="1385316"/>
                </a:lnTo>
                <a:lnTo>
                  <a:pt x="207084" y="1353003"/>
                </a:lnTo>
                <a:lnTo>
                  <a:pt x="178277" y="1319051"/>
                </a:lnTo>
                <a:lnTo>
                  <a:pt x="151337" y="1283536"/>
                </a:lnTo>
                <a:lnTo>
                  <a:pt x="126340" y="1246535"/>
                </a:lnTo>
                <a:lnTo>
                  <a:pt x="103363" y="1208123"/>
                </a:lnTo>
                <a:lnTo>
                  <a:pt x="82481" y="1168377"/>
                </a:lnTo>
                <a:lnTo>
                  <a:pt x="63771" y="1127372"/>
                </a:lnTo>
                <a:lnTo>
                  <a:pt x="47309" y="1085185"/>
                </a:lnTo>
                <a:lnTo>
                  <a:pt x="33170" y="1041892"/>
                </a:lnTo>
                <a:lnTo>
                  <a:pt x="21432" y="997569"/>
                </a:lnTo>
                <a:lnTo>
                  <a:pt x="12169" y="952292"/>
                </a:lnTo>
                <a:lnTo>
                  <a:pt x="5459" y="906138"/>
                </a:lnTo>
                <a:lnTo>
                  <a:pt x="1377" y="859181"/>
                </a:lnTo>
                <a:lnTo>
                  <a:pt x="0" y="811499"/>
                </a:lnTo>
                <a:lnTo>
                  <a:pt x="1377" y="763818"/>
                </a:lnTo>
                <a:lnTo>
                  <a:pt x="5459" y="716861"/>
                </a:lnTo>
                <a:lnTo>
                  <a:pt x="12169" y="670707"/>
                </a:lnTo>
                <a:lnTo>
                  <a:pt x="21432" y="625430"/>
                </a:lnTo>
                <a:lnTo>
                  <a:pt x="33170" y="581107"/>
                </a:lnTo>
                <a:lnTo>
                  <a:pt x="47309" y="537814"/>
                </a:lnTo>
                <a:lnTo>
                  <a:pt x="63771" y="495627"/>
                </a:lnTo>
                <a:lnTo>
                  <a:pt x="82481" y="454622"/>
                </a:lnTo>
                <a:lnTo>
                  <a:pt x="103363" y="414876"/>
                </a:lnTo>
                <a:lnTo>
                  <a:pt x="126340" y="376464"/>
                </a:lnTo>
                <a:lnTo>
                  <a:pt x="151337" y="339462"/>
                </a:lnTo>
                <a:lnTo>
                  <a:pt x="178277" y="303948"/>
                </a:lnTo>
                <a:lnTo>
                  <a:pt x="207084" y="269996"/>
                </a:lnTo>
                <a:lnTo>
                  <a:pt x="237682" y="237682"/>
                </a:lnTo>
                <a:lnTo>
                  <a:pt x="269996" y="207084"/>
                </a:lnTo>
                <a:lnTo>
                  <a:pt x="303948" y="178277"/>
                </a:lnTo>
                <a:lnTo>
                  <a:pt x="339463" y="151337"/>
                </a:lnTo>
                <a:lnTo>
                  <a:pt x="376464" y="126340"/>
                </a:lnTo>
                <a:lnTo>
                  <a:pt x="414876" y="103363"/>
                </a:lnTo>
                <a:lnTo>
                  <a:pt x="454622" y="82481"/>
                </a:lnTo>
                <a:lnTo>
                  <a:pt x="495627" y="63771"/>
                </a:lnTo>
                <a:lnTo>
                  <a:pt x="537814" y="47309"/>
                </a:lnTo>
                <a:lnTo>
                  <a:pt x="581107" y="33170"/>
                </a:lnTo>
                <a:lnTo>
                  <a:pt x="625430" y="21432"/>
                </a:lnTo>
                <a:lnTo>
                  <a:pt x="670707" y="12169"/>
                </a:lnTo>
                <a:lnTo>
                  <a:pt x="716861" y="5459"/>
                </a:lnTo>
                <a:lnTo>
                  <a:pt x="763818" y="1377"/>
                </a:lnTo>
                <a:lnTo>
                  <a:pt x="811499" y="0"/>
                </a:lnTo>
                <a:lnTo>
                  <a:pt x="860989" y="1509"/>
                </a:lnTo>
                <a:lnTo>
                  <a:pt x="910042" y="6002"/>
                </a:lnTo>
                <a:lnTo>
                  <a:pt x="958534" y="13428"/>
                </a:lnTo>
                <a:lnTo>
                  <a:pt x="1006341" y="23735"/>
                </a:lnTo>
                <a:lnTo>
                  <a:pt x="1053338" y="36872"/>
                </a:lnTo>
                <a:lnTo>
                  <a:pt x="1099403" y="52787"/>
                </a:lnTo>
                <a:lnTo>
                  <a:pt x="1144411" y="71430"/>
                </a:lnTo>
                <a:lnTo>
                  <a:pt x="1188238" y="92749"/>
                </a:lnTo>
                <a:lnTo>
                  <a:pt x="1230760" y="116692"/>
                </a:lnTo>
                <a:lnTo>
                  <a:pt x="1271853" y="143208"/>
                </a:lnTo>
                <a:lnTo>
                  <a:pt x="1311392" y="172246"/>
                </a:lnTo>
                <a:lnTo>
                  <a:pt x="1349255" y="203755"/>
                </a:lnTo>
                <a:lnTo>
                  <a:pt x="1385317" y="237682"/>
                </a:lnTo>
                <a:lnTo>
                  <a:pt x="1419244" y="273744"/>
                </a:lnTo>
                <a:lnTo>
                  <a:pt x="1450753" y="311607"/>
                </a:lnTo>
                <a:lnTo>
                  <a:pt x="1479791" y="351146"/>
                </a:lnTo>
                <a:lnTo>
                  <a:pt x="1506307" y="392239"/>
                </a:lnTo>
                <a:lnTo>
                  <a:pt x="1530250" y="434761"/>
                </a:lnTo>
                <a:lnTo>
                  <a:pt x="1551569" y="478588"/>
                </a:lnTo>
                <a:lnTo>
                  <a:pt x="1570212" y="523596"/>
                </a:lnTo>
                <a:lnTo>
                  <a:pt x="1586127" y="569660"/>
                </a:lnTo>
                <a:lnTo>
                  <a:pt x="1599264" y="616658"/>
                </a:lnTo>
                <a:lnTo>
                  <a:pt x="1609571" y="664465"/>
                </a:lnTo>
                <a:lnTo>
                  <a:pt x="1616997" y="712957"/>
                </a:lnTo>
                <a:lnTo>
                  <a:pt x="1621490" y="762010"/>
                </a:lnTo>
                <a:lnTo>
                  <a:pt x="1622999" y="811499"/>
                </a:lnTo>
                <a:lnTo>
                  <a:pt x="1621622" y="859181"/>
                </a:lnTo>
                <a:lnTo>
                  <a:pt x="1617540" y="906138"/>
                </a:lnTo>
                <a:lnTo>
                  <a:pt x="1610830" y="952292"/>
                </a:lnTo>
                <a:lnTo>
                  <a:pt x="1601567" y="997569"/>
                </a:lnTo>
                <a:lnTo>
                  <a:pt x="1589829" y="1041892"/>
                </a:lnTo>
                <a:lnTo>
                  <a:pt x="1575690" y="1085185"/>
                </a:lnTo>
                <a:lnTo>
                  <a:pt x="1559228" y="1127372"/>
                </a:lnTo>
                <a:lnTo>
                  <a:pt x="1540518" y="1168377"/>
                </a:lnTo>
                <a:lnTo>
                  <a:pt x="1519636" y="1208123"/>
                </a:lnTo>
                <a:lnTo>
                  <a:pt x="1496659" y="1246535"/>
                </a:lnTo>
                <a:lnTo>
                  <a:pt x="1471662" y="1283536"/>
                </a:lnTo>
                <a:lnTo>
                  <a:pt x="1444722" y="1319051"/>
                </a:lnTo>
                <a:lnTo>
                  <a:pt x="1415915" y="1353003"/>
                </a:lnTo>
                <a:lnTo>
                  <a:pt x="1385317" y="1385316"/>
                </a:lnTo>
                <a:lnTo>
                  <a:pt x="1353003" y="1415915"/>
                </a:lnTo>
                <a:lnTo>
                  <a:pt x="1319051" y="1444722"/>
                </a:lnTo>
                <a:lnTo>
                  <a:pt x="1283536" y="1471662"/>
                </a:lnTo>
                <a:lnTo>
                  <a:pt x="1246535" y="1496659"/>
                </a:lnTo>
                <a:lnTo>
                  <a:pt x="1208123" y="1519636"/>
                </a:lnTo>
                <a:lnTo>
                  <a:pt x="1168376" y="1540517"/>
                </a:lnTo>
                <a:lnTo>
                  <a:pt x="1127372" y="1559228"/>
                </a:lnTo>
                <a:lnTo>
                  <a:pt x="1085185" y="1575690"/>
                </a:lnTo>
                <a:lnTo>
                  <a:pt x="1041892" y="1589828"/>
                </a:lnTo>
                <a:lnTo>
                  <a:pt x="997569" y="1601567"/>
                </a:lnTo>
                <a:lnTo>
                  <a:pt x="952292" y="1610829"/>
                </a:lnTo>
                <a:lnTo>
                  <a:pt x="906137" y="1617540"/>
                </a:lnTo>
                <a:lnTo>
                  <a:pt x="859181" y="1621622"/>
                </a:lnTo>
                <a:lnTo>
                  <a:pt x="811499" y="1622999"/>
                </a:lnTo>
                <a:close/>
              </a:path>
            </a:pathLst>
          </a:custGeom>
          <a:solidFill>
            <a:srgbClr val="1B21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63E3AE6-5CAA-35FE-935B-A81AB921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000" y="454583"/>
            <a:ext cx="5129574" cy="369332"/>
          </a:xfrm>
        </p:spPr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BEB0EC-0636-64BC-A276-C5AE17B2F0B0}"/>
              </a:ext>
            </a:extLst>
          </p:cNvPr>
          <p:cNvSpPr txBox="1"/>
          <p:nvPr/>
        </p:nvSpPr>
        <p:spPr>
          <a:xfrm>
            <a:off x="1319680" y="660839"/>
            <a:ext cx="4959200" cy="166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• Promotes environmental sustainability.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• Reduces manual effort in waste segregation.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• Enhances efficiency in recycling processes.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F48D-6D5F-064E-C4C9-58AEC72A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000" y="454583"/>
            <a:ext cx="5129574" cy="369332"/>
          </a:xfrm>
        </p:spPr>
        <p:txBody>
          <a:bodyPr/>
          <a:lstStyle/>
          <a:p>
            <a:r>
              <a:rPr lang="en-IN" dirty="0"/>
              <a:t>Challenges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F48-9116-0BF3-2B47-EC3C6ACEB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0000" y="1276350"/>
            <a:ext cx="6051400" cy="2031325"/>
          </a:xfrm>
        </p:spPr>
        <p:txBody>
          <a:bodyPr/>
          <a:lstStyle/>
          <a:p>
            <a:pPr lvl="1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Sensors may struggle with certain waste types.</a:t>
            </a:r>
          </a:p>
          <a:p>
            <a:pPr lvl="1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• Initial setup cost can be high.</a:t>
            </a:r>
          </a:p>
          <a:p>
            <a:pPr lvl="1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• System needs maintenance for consistent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0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3C0C-1C58-E3EC-74F2-6BC45688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000" y="454583"/>
            <a:ext cx="6203800" cy="369332"/>
          </a:xfrm>
        </p:spPr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F1104-34B1-7065-D43E-B61C821B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047750"/>
            <a:ext cx="7086600" cy="384913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</a:p>
          <a:p>
            <a:pPr>
              <a:lnSpc>
                <a:spcPct val="20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BIN efficiently segregates metallic, dry, and wet waste with minimal human intervention, promoting sustainable waste management.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lnSpc>
                <a:spcPct val="20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Sensors: Improve detection accuracy.</a:t>
            </a:r>
          </a:p>
          <a:p>
            <a:pPr>
              <a:lnSpc>
                <a:spcPct val="20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 Develop affordable components.</a:t>
            </a:r>
          </a:p>
          <a:p>
            <a:pPr>
              <a:lnSpc>
                <a:spcPct val="20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Integration: Enable real-time monitoring.</a:t>
            </a:r>
          </a:p>
          <a:p>
            <a:pPr>
              <a:lnSpc>
                <a:spcPct val="20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Efficiency: Reduce power consumption.</a:t>
            </a:r>
            <a:endParaRPr lang="en-I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240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FFB874-D338-821D-561E-44A5A06EC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131" y="-400050"/>
            <a:ext cx="9669611" cy="61722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514600" y="577850"/>
            <a:ext cx="4419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7200" dirty="0">
                <a:solidFill>
                  <a:schemeClr val="tx1"/>
                </a:solidFill>
                <a:latin typeface="STLiti" panose="02010800040101010101" pitchFamily="2" charset="-122"/>
                <a:ea typeface="STLiti" panose="02010800040101010101" pitchFamily="2" charset="-122"/>
              </a:rPr>
              <a:t>Thank you</a:t>
            </a:r>
            <a:endParaRPr sz="7200" dirty="0">
              <a:solidFill>
                <a:schemeClr val="tx1"/>
              </a:solidFill>
              <a:latin typeface="STLiti" panose="02010800040101010101" pitchFamily="2" charset="-122"/>
              <a:ea typeface="STLiti" panose="02010800040101010101" pitchFamily="2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8476025" y="4916029"/>
            <a:ext cx="574675" cy="132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dirty="0"/>
              <a:t>GROUP-</a:t>
            </a:r>
            <a:r>
              <a:rPr lang="en-IN" spc="-50" dirty="0"/>
              <a:t>7</a:t>
            </a:r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269</TotalTime>
  <Words>560</Words>
  <Application>Microsoft Office PowerPoint</Application>
  <PresentationFormat>On-screen Show (16:9)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MS PGothic</vt:lpstr>
      <vt:lpstr>Adobe Gothic Std B</vt:lpstr>
      <vt:lpstr>Arial</vt:lpstr>
      <vt:lpstr>Arial MT</vt:lpstr>
      <vt:lpstr>Calibri Light</vt:lpstr>
      <vt:lpstr>Microsoft Sans Serif</vt:lpstr>
      <vt:lpstr>Roboto</vt:lpstr>
      <vt:lpstr>STLiti</vt:lpstr>
      <vt:lpstr>Tahoma</vt:lpstr>
      <vt:lpstr>Times New Roman</vt:lpstr>
      <vt:lpstr>Verdana</vt:lpstr>
      <vt:lpstr>Office Theme</vt:lpstr>
      <vt:lpstr>AUTOMATED</vt:lpstr>
      <vt:lpstr>Table Of Contents</vt:lpstr>
      <vt:lpstr>Introduction</vt:lpstr>
      <vt:lpstr>Overview</vt:lpstr>
      <vt:lpstr>Understanding the problems</vt:lpstr>
      <vt:lpstr>Project objective</vt:lpstr>
      <vt:lpstr>Our Solution</vt:lpstr>
      <vt:lpstr>The Basic Design</vt:lpstr>
      <vt:lpstr>Working Cycle of Segregation System</vt:lpstr>
      <vt:lpstr>Advantages</vt:lpstr>
      <vt:lpstr>Challenges and Limitations</vt:lpstr>
      <vt:lpstr>Conclusion and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shubham shinde</cp:lastModifiedBy>
  <cp:revision>6</cp:revision>
  <dcterms:created xsi:type="dcterms:W3CDTF">2024-12-24T18:25:59Z</dcterms:created>
  <dcterms:modified xsi:type="dcterms:W3CDTF">2025-10-14T16:04:06Z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Creator">
    <vt:lpwstr>Google</vt:lpwstr>
  </property>
  <property fmtid="{D5CDD505-2E9C-101B-9397-08002B2CF9AE}" pid="4" name="LastSaved">
    <vt:filetime>2024-12-24T00:00:00Z</vt:filetime>
  </property>
</Properties>
</file>